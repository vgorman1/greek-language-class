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38"/>
  </p:handoutMasterIdLst>
  <p:sldIdLst>
    <p:sldId id="313" r:id="rId2"/>
    <p:sldId id="381" r:id="rId3"/>
    <p:sldId id="341" r:id="rId4"/>
    <p:sldId id="375" r:id="rId5"/>
    <p:sldId id="350" r:id="rId6"/>
    <p:sldId id="351" r:id="rId7"/>
    <p:sldId id="352" r:id="rId8"/>
    <p:sldId id="355" r:id="rId9"/>
    <p:sldId id="353" r:id="rId10"/>
    <p:sldId id="357" r:id="rId11"/>
    <p:sldId id="356" r:id="rId12"/>
    <p:sldId id="354" r:id="rId13"/>
    <p:sldId id="349" r:id="rId14"/>
    <p:sldId id="369" r:id="rId15"/>
    <p:sldId id="371" r:id="rId16"/>
    <p:sldId id="370" r:id="rId17"/>
    <p:sldId id="380" r:id="rId18"/>
    <p:sldId id="373" r:id="rId19"/>
    <p:sldId id="374" r:id="rId20"/>
    <p:sldId id="376" r:id="rId21"/>
    <p:sldId id="348" r:id="rId22"/>
    <p:sldId id="378" r:id="rId23"/>
    <p:sldId id="347" r:id="rId24"/>
    <p:sldId id="360" r:id="rId25"/>
    <p:sldId id="359" r:id="rId26"/>
    <p:sldId id="342" r:id="rId27"/>
    <p:sldId id="361" r:id="rId28"/>
    <p:sldId id="346" r:id="rId29"/>
    <p:sldId id="365" r:id="rId30"/>
    <p:sldId id="366" r:id="rId31"/>
    <p:sldId id="367" r:id="rId32"/>
    <p:sldId id="363" r:id="rId33"/>
    <p:sldId id="377" r:id="rId34"/>
    <p:sldId id="362" r:id="rId35"/>
    <p:sldId id="379" r:id="rId36"/>
    <p:sldId id="33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FF00"/>
    <a:srgbClr val="00FF00"/>
    <a:srgbClr val="FF0000"/>
    <a:srgbClr val="1CADE4"/>
    <a:srgbClr val="00B050"/>
    <a:srgbClr val="FFC000"/>
    <a:srgbClr val="FF99FF"/>
    <a:srgbClr val="E6F2FA"/>
    <a:srgbClr val="E058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 snapToGrid="0">
      <p:cViewPr varScale="1">
        <p:scale>
          <a:sx n="66" d="100"/>
          <a:sy n="66" d="100"/>
        </p:scale>
        <p:origin x="4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56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A9647-CCED-43BF-A051-6A8F459DD83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1365B-8B7A-4A34-8834-6EE2A464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143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1:05.199"/>
    </inkml:context>
    <inkml:brush xml:id="br0">
      <inkml:brushProperty name="width" value="0.4" units="cm"/>
      <inkml:brushProperty name="height" value="0.8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0,'53'0'140,"54"0"-140,-26 0 16,79 0-16,-53 0 16,-54 0-16,1 0 15,-1 0-15,-26 0 16,0 0 78,26 0-79,-26 0-15,27 0 16,52 0 0,1 0-16,-53 0 0,-1 0 15,81 0 1,-107 0-1,0 0-15,-1 0 16,28 0 172,-1 0-173,-26 0 1,26 0-1,-26 0 1,0 0-16,0 0 16,-1 0 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1:08.944"/>
    </inkml:context>
    <inkml:brush xml:id="br0">
      <inkml:brushProperty name="width" value="0.4" units="cm"/>
      <inkml:brushProperty name="height" value="0.8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60 0,'0'27'94,"0"-1"-94,81-26 15,-55 0 1,81 0-16,-80 0 16,53 0-16,27 0 15,-27 0-15,-26 0 16,26 0-16,27 0 15,-80 0 1,80 0-16,-27 0 16,-27 0-16,54 0 15,-53 0-15,80 0 16,-54 0-16,-27 0 16,1 0-16,-1 0 15,1 0-15,-1 0 16,-26 0-1,53 0-15,0 0 16,-53 0 0,26 0-16,28 27 15,-28-27-15,1 0 16,26 0-16,0 0 16,-53 0-16,26 0 15,-26 0-15,0 0 16,-1 0-16,1 0 15,0 0 1,0 0 0,-1 0-1,28 0-15,-1 0 16,1 0-16,-1 0 16,1 0-1,-1 0-15,1 0 16,-28 0-16,55 0 31,-55 0-31,1 0 16,0 0-1,26 0 1,28 0-16,-28 0 16,-26 0-16,26 0 15,-26 0-15,53 0 16,-53 0-1,26 0-15,1 0 0,-1 0 16,1 0-16,26 0 16,-53 0-1,26 0-15,1 0 16,-28 0-16,28 0 16,-1 0-1,-26 0-15,27 0 16,-28 0-16,28 0 15,-1 0 1,-26 0 0,27 0-16,-28 0 15,1 0-15,0 0 0,-1 0 16,1 0 0,0 0-1,0 0-15,53 0 16,-27 0-1,-26 0 1,27 0-16,-1 0 16,-26 0-1,26 0-15,1 0 16,-1 0-16,-26 0 16,26-27-16,-26 27 15,0 0 1,26 0-16,-26 0 15,27 0-15,-1-26 16,-26 26 0,53 0-16,-53 0 15,-1 0-15,28 0 16,-54-27 0,27 0-16,-1 27 31,28-27-16,-27 27-15,-1 0 32,1 0 61,27 0-46,-28 0-31,1 0 15,0 0-31,0 0 16,-1 0-1,1 0 204,0 0-203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1:11.450"/>
    </inkml:context>
    <inkml:brush xml:id="br0">
      <inkml:brushProperty name="width" value="0.4" units="cm"/>
      <inkml:brushProperty name="height" value="0.8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59 0,'27'0'110,"26"0"-95,54 0-15,-26 0 16,-1 0-16,0 0 15,54 0-15,-54 0 16,0 0-16,80 0 16,-26 0-1,-27 0-15,-27 0 16,81 0-16,-108 0 0,81 0 16,-54 0-1,0 0-15,81 0 16,-28 0-16,-26 0 15,-26 0-15,-55-26 16,28 26-16,-1 0 16,-26 0-1,0 0-15,-1 0 0,1 0 16,27 0-16,-1 0 16,27 0-16,1 0 15,26 0-15,-1 0 16,-52 0-16,80 0 15,-54 0-15,0-27 16,0 27-16,-26 0 16,-1 0-16,1 0 15,-28 0 1,1 0 0,27 0-16,26 0 31,-27 0-16,-26 0 1,27 0-16,-28 0 0,1 0 16,0 0-1,26 0 1,-26 0-16,0 0 16,-1 0-16,1 0 0,27 0 15,-1 0 1,-26 0-1,53 0-15,-53 0 16,26 0-16,27 0 16,-26 0-16,-1 0 15,1 0-15,-27 0 16,-1 0 0,1 0-1,0 0-15,0 0 16,-1 0-1,1 0 17,0 0-17,0 0 1,26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0:30.675"/>
    </inkml:context>
    <inkml:brush xml:id="br0">
      <inkml:brushProperty name="width" value="0.4" units="cm"/>
      <inkml:brushProperty name="height" value="0.8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0 123 0,'-27'0'140,"54"0"-124,26 0 0,28 0-16,26 0 15,0-54-15,-27 54 16,27 0-16,26-27 15,-52 27 1,52 0-16,-53 0 0,1 0 16,-1 0-16,-27 0 15,28 0-15,26 0 16,-27 0 0,-27 0-16,108 0 0,-81 0 15,0 0 1,0 0-16,54 0 15,-54 0-15,54 0 16,-27 0-16,107-26 16,-107 26-16,-27 0 15,54 0-15,-54 0 16,0 0-16,-27 0 16,28 0-16,-55 0 15,28 0-15,-27 0 16,-1 0-16,28 0 15,-1 0-15,1 0 16,-28 0-16,28 0 16,-1 0-1,-26 0-15,53 0 0,-26 0 16,26 0-16,0 0 16,-26 0-16,-1 0 15,27 0-15,27 0 16,-80 0-16,107 0 15,-54 0-15,0 0 16,-26 0-16,53 0 16,-54 0-1,1 0-15,-1 0 16,27 0 0,-26 0-16,-28 0 15,55 0-15,-55 0 16,28 0-16,53 0 15,-54 0-15,1 0 16,-1 0-16,1 0 16,-1 0-16,1 0 15,-1 0 1,-26 0-16,26 0 16,28 0-16,-55 0 15,28 0-15,-27 0 16,53 0-1,-27 0-15,1 0 16,-1 53-16,1-53 16,-28 0-16,28 0 15,-27 0-15,26 0 16,27 0-16,-53 0 16,0 0-16,80 27 15,-54-27-15,1 0 31,-1 27-31,1-27 16,-28 0 0,28 0-1,-27 0-15,-1 0 16,1 0 0,0 0-16,26 0 15,-26 0-15,26 0 16,-26 0-16,0 0 15,0 0 1,26 0-16,-26 0 0,26 26 16,-26-26-1,53 0-15,-53 0 0,26 0 16,1 0-16,80 0 16,-81 0-16,1 0 15,-1 0-15,-26 0 16,0 0-1,26 0-15,-26 0 0,26 0 16,-26 0-16,0 0 16,-1 27-16,1-27 15,0 0 1,0 0 0,-1 0-16,1 0 15,0 0-15,0 0 31,-1 27-15,1-27 15,0 0-31,0 0 16,53 0-16,-54 0 16,1 0-1,27 0-15,-28 0 16,28 0-16,-1 0 15,1 0-15,-54 27 16,80-27-16,-26 0 16,26 0-1,-27 0-15,-26 0 16,0 0 62,-1 0-62,1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2:34.715"/>
    </inkml:context>
    <inkml:brush xml:id="br0">
      <inkml:brushProperty name="width" value="0.4" units="cm"/>
      <inkml:brushProperty name="height" value="0.8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13 0,'27'0'156,"0"0"-140,53 0-1,-53 0 1,26 0 0,1 0-1,26 0-15,-27 0 0,28 0 16,-1 0-16,0 0 16,27 0-16,-27 0 15,0 0-15,-26 0 16,-27 0-1,-1 0-15,1 0 0,0 27 16,-1-27 0,1 0-16,0 0 15,53 0-15,-53 0 16,0 0-16,26 0 16,1 0-16,53 0 15,-81 0 1,81 0-16,-27 0 15,1 0-15,-1 0 16,-27 0-16,-26 0 16,0 0-16,0 0 15,-1 0 1,1 0 15,26 0-15,-26 0-16,27-27 15,-28 27 1,28 0-16,-27 0 16,-1 0-1,1 0-15,0 0 16,0 0-16,26 0 16,1 0-1,-28 0-15,1 0 16,0 0-16,-1 0 15,1 0-15,0 0 16,0 0 0,-1 0-1,1 0-15,0 0 32,26 0-32,1 0 15,-27 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4:33.923"/>
    </inkml:context>
    <inkml:brush xml:id="br0">
      <inkml:brushProperty name="width" value="0.4" units="cm"/>
      <inkml:brushProperty name="height" value="0.8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0,'27'0'188,"26"0"-173,1 0 1,-1 0-16,1 0 16,-1 0-16,27 0 15,1 27-15,-28-27 16,27 0-16,-26 0 16,26 0-16,-53 0 15,53 0-15,-53 0 16,26 0-16,-26 0 15,0 0-15,53 0 16,-53 0 0,26 0-16,27 0 15,54 0-15,-81 0 16,1 0 0,-27 0-16,26 0 15,-26 0-15,26 0 16,-26 0-1,27 0 1,-28 0-16,28 0 16,-1 0-16,1 0 0,-28 0 15,1 0-15,27 0 16,-1 0 0,-26 0-16,0 0 15,26 0-15,1 0 16,-28 0-1,28 0-15,-27 0 16,26 0-16,0 0 16,-26 0-1,0 0-15,26 0 16,1 0-16,-1 0 16,-26 0-1,0 0-15,26 0 16,-26 0-1,0 0-15,0 0 16,-1 0 0,1 0-16,53 0 15,-53 0 1,26 0 0,-26 0-16,0 0 15,0 0 1,53 0-16,-53 0 15,26 0-15,-26 0 16,0 0 0,79 0-16,-79 0 15,27 0-15,53 0 16,-54 0-16,54 0 16,-80 0-16,26 0 15,27 0 1,-26 0-1,-27 0-15,-1 0 16,1 0-16,0 0 16,26 0-16,-26 0 15,0 0 1,0 0-16,-1 0 16,28 26-1,-27-26 1,-1 0-1,1 0-15,26 0 16,-26 0-16,0 0 16,0 0-16,53 0 15,-27 0 1,-26 0 0,27 0-1,-28 0-15,1 0 31,0 0-31,26 0 16,-26 0-16,0 0 16,-1 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7:55.877"/>
    </inkml:context>
    <inkml:brush xml:id="br0">
      <inkml:brushProperty name="width" value="0.4" units="cm"/>
      <inkml:brushProperty name="height" value="0.8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0 122 0,'0'-27'281,"26"27"-281,81-26 16,-80 26-1,26 0-15,1 0 16,-1 0-16,1 0 0,-1 0 15,1 0-15,-27 0 16,26 0 0,0 0-1,-26 0-15,27 0 16,-1 0-16,-26 0 16,53 0-16,0 0 15,-26 0-15,-1 0 16,1 0-16,-28 0 15,28 0 1,-27 0 0,-1 0-1,1 0 1,0 0-16,0 0 16,26 0-1,-26 0-15,53 0 16,-26 0-1,-28 0-15,28 0 0,-28 0 16,28 0-16,-1 0 16,-26 0-16,0 0 15,26 0 1,-26 0-16,27 0 16,-1 0-16,-26 0 15,26 0 1,-26 0-16,26 0 15,1 0-15,-27 0 16,-1 0 0,1 0-16,0 0 15,0 0-15,-1 0 16,1 0-16,27 0 16,-1 0-1,1 0-15,-1 0 16,-26 0-16,26 0 15,-26 0 1,26 0-16,-26 0 16,27 0-16,-1 0 15,-26 0-15,0 0 16,26 0-16,1 0 16,-1 0-16,27 0 15,-53 0 1,53 0-16,0 0 15,-53 0-15,53 0 0,-53 0 16,27 0 0,-1 0-16,0 0 15,-26 0 1,27 0-16,-28 0 16,28 0-16,-1 0 15,-26 0 1,27 0-16,-28 0 15,28 0-15,-1 0 32,-26 0-32,53 0 15,-53 0 1,26 0-16,-26 0 16,27 0-1,-28 0-15,28 0 16,-1 0-16,-26 0 15,53 26 1,-53-26-16,26 0 0,1 0 16,-1 0-16,1 0 15,26 27-15,-53-27 16,26 0 0,28 0-16,-55 27 0,28-27 15,-28 0-15,1 0 16,0 0-1,0 0-15,-1 0 0,1 0 16,0 0-16,0 0 16,-1 0-1,28 27 1,-27-27-16,-1 0 0,28 0 31,-27 0-15,-1 0-1,1 0-15,0 26 16,-1-26 0,1 0-16,0 0 15,26 0-15,1 27 32,-27-27-17,-1 0-15,1 0 16,0 0-1,0 0 1,-1 0-16,1 27 16,27-27-1,-28 0 1,28 0-16,-28 0 16,1 0-1,0 53-15,26-53 16,28 0-1,-28 0 1,-26 0-16,0 0 31,-1 0-31,55 27 16,-55-27 15,28 0-31,-28 0 16,55 0-1,-55 0 1,1 0-16,0 0 16,26 0-1,-26 0-15,0 0 16,0 27 0,-1-27-16,1 0 15,27 0 16,-28 0-31,1 0 47,0 0-47,26 0 16,-26 0 0,0 0-16,-1 0 15,1 0-15,27 0 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7:59.565"/>
    </inkml:context>
    <inkml:brush xml:id="br0">
      <inkml:brushProperty name="width" value="0.4" units="cm"/>
      <inkml:brushProperty name="height" value="0.8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0,'0'26'141,"27"-26"-94,-1 0-32,28 0-15,26 0 16,-53 0 0,26 0-16,27 0 0,1 0 15,52 0-15,-52 0 16,-28 0-16,1 0 15,26 0-15,-27 0 16,27 0-16,-53 0 16,53 0-1,-26 0-15,-1 0 0,-26 0 16,27 0 0,-28 0-1,1 0 1,0 0 46,-1 0-62,28 0 16,-1 0 0,-26 0-1,27 0-15,-28 0 16,1 0-1,0 0-15,0 0 32,-1 0-17,1 0-15,0 0 0,26 0 16,27 0-16,-53 0 16,27 0-16,-1 0 15,-26 0-15,26 0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9:09.895"/>
    </inkml:context>
    <inkml:brush xml:id="br0">
      <inkml:brushProperty name="width" value="0.4" units="cm"/>
      <inkml:brushProperty name="height" value="0.8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 0,'54'0'125,"-28"0"-109,28 0-16,-1 0 0,28 0 16,-1 0-16,-27 0 15,108 0-15,-54 0 16,0 0-16,0 0 15,53 0-15,-80 0 16,54 0-16,-27 0 16,26 0-16,-52 26 15,-28 1-15,1-27 16,26 0-16,-27 27 16,-26-27-16,0 0 15,26 0-15,1 0 16,-1 0-16,1 0 15,26 0-15,-53 0 16,-1 0-16,108 80 16,-107-80-16,26 0 15,1 0 1,-1 0-16,1 27 16,-28-27-16,1 0 15,0 0-15,26 0 16,-26 27-16,27-27 15,-1 0-15,1 0 16,-1 0-16,-26 0 16,-1 0-16,55 0 15,-55 0-15,81 26 16,-53-26-16,-27 0 16,26 0-16,1 0 15,-28 0-15,28 0 16,53 0-16,-27 0 15,-27 0-15,1 0 16,26 0-16,-26 0 16,-1 0-16,27 0 15,-26 0-15,26 0 16,-53 0-16,53 0 16,-27 0-16,-26 0 15,0 27-15,80-27 16,-54 0-1,-26 0-15,26 0 0,1 0 16,-27 0-16,26 0 16,27 0-1,-26 0-15,-1 27 16,-26-27-16,53 0 16,-53 0-16,26 0 15,1 0 1,-27 0-16,26 0 15,-26 0-15,26 0 16,-26 0-16,0 0 16,26 0-16,27 0 15,-53 0-15,27 0 16,53 0-16,-54 0 16,1 0-16,53 0 15,-27 0 1,0 0-16,-53 0 0,26 0 15,27 0-15,-26 0 16,-27 0-16,26 0 16,1 0-1,52 0-15,1 0 16,-80 0 0,27 0-16,26 0 0,-53 0 15,26 0 1,-26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19:12.296"/>
    </inkml:context>
    <inkml:brush xml:id="br0">
      <inkml:brushProperty name="width" value="0.4" units="cm"/>
      <inkml:brushProperty name="height" value="0.8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39 0,'0'-27'250,"27"27"-235,0 0-15,53 0 16,-53 0-16,-1 0 0,108 0 16,-54 0-16,0 0 15,1 0-15,26 0 16,-54 0-16,0 0 16,-26 0-1,27 0 48,-28 0-48,1 0 1,0 0 203,26 0-204,-26 0-15,27 0 16,-28 0-16,55 0 16,-81 27 62,53-27-47,-26 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21:25.527"/>
    </inkml:context>
    <inkml:brush xml:id="br0">
      <inkml:brushProperty name="width" value="0.4" units="cm"/>
      <inkml:brushProperty name="height" value="0.8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52 0,'27'0'187,"26"0"-187,1 0 16,-1 0 0,1 0-16,-1 0 15,1 0-15,26 0 16,-27 0-16,27 0 15,27 0-15,0 0 16,-53 0-16,-1-27 16,-26 27-16,0 0 31,0 0-15,-1 0-1,28 0 1,-28 0-1,1 0 17,0 0-17,0 0-15,-1 0 16,1 0-16,0 0 16,0 0 15,-1 0 0,1 0-31,0 0 16,0 0-1,26 0 1,-26 0 0,26 0-1,-26 0-15,0 0 16,-1 0 62,1 0-62,27 0-1,-28 0 1,1 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21:27.687"/>
    </inkml:context>
    <inkml:brush xml:id="br0">
      <inkml:brushProperty name="width" value="0.4" units="cm"/>
      <inkml:brushProperty name="height" value="0.8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0,'27'0'187,"53"26"-171,-54-26-16,28 0 16,26 0-16,-26 0 15,26 0-15,-27 0 16,28 0-16,52 0 16,-53 0-16,54 0 15,-54 0-15,1 0 16,-28 0-16,0 0 15,-26 0-15,27 0 16,-28 0 0,1 0-1,0 0 1,0 0 0,-1 0-16,1 0 0,0 0 15,26 0 1,-26 0-16,0 0 15,26 0-15,-26 0 32,26 0-17,-26 27-15,0-27 0,0 0 16,-1 27-16,1-27 31,0 0-31,26 0 16,1 0-1,-27 0-15,26 0 16,-26 0 0,26 0-16,-26 0 15,26 0 1,-26 0 15,0 0-15,0 0-1,-1 0 1,1 0-16,0 0 16,26 27-16,-26-27 15,0 0 17,0 0-17,-1 0 1,1 0-16,0 26 15,0-26 1,-1 0 0,1 0-1,26 0-15,-26 0 16,0 0 0,0 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23:44.520"/>
    </inkml:context>
    <inkml:brush xml:id="br0">
      <inkml:brushProperty name="width" value="0.4" units="cm"/>
      <inkml:brushProperty name="height" value="0.8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0,'27'0'203,"26"0"-187,27 0 0,-53 0-16,27 0 15,-1 0 1,27 0-16,-26 0 0,26 0 16,-53 0-16,26 0 15,-26 0-15,0 0 16,-1 0-1,1 0-15,0 0 0,0 0 16,26 0 0,0 0-1,1 0 1,-27 0-16,-1 0 16,28 0-16,-1 0 15,-26 0 1,27 0-16,-28 0 15,1 0 32,0 0-31,0 0-16,-1 0 16,1 0-1,26 0-15,-26 0 16,0 0-1,26 0-15,-26 0 47,0 0-47,0 0 16,-1 0-16,1 0 16,0 0-16,0 0 15,-1 0 1,1 0-16,0 0 15,0 0-15,-1 0 16,28 0 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503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1-02T15:23:46.105"/>
    </inkml:context>
    <inkml:brush xml:id="br0">
      <inkml:brushProperty name="width" value="0.4" units="cm"/>
      <inkml:brushProperty name="height" value="0.8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0 227 0,'-27'0'109,"54"0"-93,106 0 0,1 0-16,27-54 15,-1 54-15,27-27 16,-26 27-16,-1 0 16,0 0-1,1 0-15,26 0 0,-80-26 16,27 26-16,26 0 15,-53-27-15,27 0 16,-27 27-16,106 0 16,-79 0-16,-27 0 15,54-53 1,-81 53-16,27 0 16,-27 0-16,-27 0 15,-26 0-15,0 0 16,0 0-1,53 0 1,-53 0 15,-1 0-15,28 0 46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53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58265"/>
            <a:ext cx="10352084" cy="741146"/>
          </a:xfrm>
        </p:spPr>
        <p:txBody>
          <a:bodyPr/>
          <a:lstStyle>
            <a:lvl1pPr algn="ctr">
              <a:defRPr sz="400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617045"/>
            <a:ext cx="10352084" cy="469231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 marL="461963" indent="-461963">
              <a:defRPr sz="2800" baseline="0"/>
            </a:lvl1pPr>
            <a:lvl2pPr marL="1146175" indent="-231775">
              <a:defRPr sz="2400"/>
            </a:lvl2pPr>
            <a:lvl3pPr marL="1482725" indent="-222250">
              <a:defRPr sz="2000"/>
            </a:lvl3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6944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5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280366" cy="804313"/>
          </a:xfrm>
        </p:spPr>
        <p:txBody>
          <a:bodyPr/>
          <a:lstStyle>
            <a:lvl1pPr algn="ctr">
              <a:defRPr sz="480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1819835"/>
            <a:ext cx="4754880" cy="4489525"/>
          </a:xfrm>
        </p:spPr>
        <p:txBody>
          <a:bodyPr/>
          <a:lstStyle>
            <a:lvl1pPr>
              <a:defRPr sz="2800"/>
            </a:lvl1pPr>
            <a:lvl2pPr marL="457200" indent="-136525">
              <a:defRPr sz="2400"/>
            </a:lvl2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212" y="1819835"/>
            <a:ext cx="5262282" cy="4489525"/>
          </a:xfrm>
        </p:spPr>
        <p:txBody>
          <a:bodyPr/>
          <a:lstStyle>
            <a:lvl1pPr>
              <a:defRPr sz="2800"/>
            </a:lvl1pPr>
            <a:lvl2pPr marL="403225" indent="-136525">
              <a:defRPr sz="2400"/>
            </a:lvl2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397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41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53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792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37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58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29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2DAF2DB-7230-4B59-B7DF-5B059DD3D26A}" type="datetimeFigureOut">
              <a:rPr lang="en-US" smtClean="0"/>
              <a:t>1/2/2021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9232C14-EA7A-45A4-937B-E50D0FE05BA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26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emf"/><Relationship Id="rId5" Type="http://schemas.openxmlformats.org/officeDocument/2006/relationships/customXml" Target="../ink/ink2.xml"/><Relationship Id="rId4" Type="http://schemas.openxmlformats.org/officeDocument/2006/relationships/image" Target="../media/image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emf"/><Relationship Id="rId5" Type="http://schemas.openxmlformats.org/officeDocument/2006/relationships/customXml" Target="../ink/ink6.xml"/><Relationship Id="rId4" Type="http://schemas.openxmlformats.org/officeDocument/2006/relationships/image" Target="../media/image1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emf"/><Relationship Id="rId5" Type="http://schemas.openxmlformats.org/officeDocument/2006/relationships/customXml" Target="../ink/ink8.xml"/><Relationship Id="rId4" Type="http://schemas.openxmlformats.org/officeDocument/2006/relationships/image" Target="../media/image15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emf"/><Relationship Id="rId5" Type="http://schemas.openxmlformats.org/officeDocument/2006/relationships/customXml" Target="../ink/ink10.xml"/><Relationship Id="rId4" Type="http://schemas.openxmlformats.org/officeDocument/2006/relationships/image" Target="../media/image18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emf"/><Relationship Id="rId5" Type="http://schemas.openxmlformats.org/officeDocument/2006/relationships/customXml" Target="../ink/ink12.xml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customXml" Target="../ink/ink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Greek </a:t>
            </a:r>
            <a:r>
              <a:rPr lang="en-US" dirty="0" smtClean="0"/>
              <a:t>Participles</a:t>
            </a:r>
            <a:r>
              <a:rPr lang="en-US" dirty="0"/>
              <a:t/>
            </a:r>
            <a:br>
              <a:rPr lang="en-US" dirty="0"/>
            </a:br>
            <a:endParaRPr lang="en-US" sz="28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599" y="4960137"/>
            <a:ext cx="3366247" cy="1463040"/>
          </a:xfrm>
        </p:spPr>
        <p:txBody>
          <a:bodyPr>
            <a:normAutofit/>
          </a:bodyPr>
          <a:lstStyle/>
          <a:p>
            <a:r>
              <a:rPr lang="en-US" dirty="0" smtClean="0"/>
              <a:t>Prof. Vanessa Gorman</a:t>
            </a:r>
          </a:p>
          <a:p>
            <a:r>
              <a:rPr lang="en-US" sz="1900" dirty="0" smtClean="0"/>
              <a:t>University of Nebraska-Lincoln</a:t>
            </a:r>
          </a:p>
          <a:p>
            <a:r>
              <a:rPr lang="en-US" sz="1900" dirty="0" smtClean="0"/>
              <a:t>vgorman1@unl.edu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07055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Morphology of Greek Participles</a:t>
            </a:r>
            <a:r>
              <a:rPr lang="en-US" dirty="0"/>
              <a:t/>
            </a:r>
            <a:br>
              <a:rPr lang="en-US" dirty="0"/>
            </a:br>
            <a:endParaRPr lang="en-US" sz="2800" i="1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83264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80358"/>
            <a:ext cx="10352084" cy="858159"/>
          </a:xfrm>
        </p:spPr>
        <p:txBody>
          <a:bodyPr/>
          <a:lstStyle/>
          <a:p>
            <a:r>
              <a:rPr lang="en-US" dirty="0" smtClean="0"/>
              <a:t>Participle = verbal adjective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604681"/>
            <a:ext cx="10352084" cy="4704679"/>
          </a:xfrm>
        </p:spPr>
        <p:txBody>
          <a:bodyPr>
            <a:normAutofit/>
          </a:bodyPr>
          <a:lstStyle/>
          <a:p>
            <a:r>
              <a:rPr lang="en-US" dirty="0" smtClean="0"/>
              <a:t>Built from a verb stem</a:t>
            </a:r>
          </a:p>
          <a:p>
            <a:r>
              <a:rPr lang="en-US" dirty="0" smtClean="0"/>
              <a:t>As an adjective/noun, it has </a:t>
            </a:r>
            <a:r>
              <a:rPr lang="en-US" b="1" dirty="0" smtClean="0"/>
              <a:t>number, gender, and case</a:t>
            </a:r>
          </a:p>
          <a:p>
            <a:pPr lvl="1"/>
            <a:r>
              <a:rPr lang="en-US" dirty="0" smtClean="0"/>
              <a:t>It modifies a noun [sometimes unexpressed]</a:t>
            </a:r>
          </a:p>
          <a:p>
            <a:pPr lvl="1"/>
            <a:r>
              <a:rPr lang="en-US" dirty="0" smtClean="0"/>
              <a:t>It follows the rules of agreement toward the noun it is modifying</a:t>
            </a:r>
          </a:p>
          <a:p>
            <a:pPr lvl="1"/>
            <a:r>
              <a:rPr lang="en-US" dirty="0" smtClean="0"/>
              <a:t>It can be substantized</a:t>
            </a:r>
          </a:p>
          <a:p>
            <a:r>
              <a:rPr lang="en-US" dirty="0" smtClean="0"/>
              <a:t>As a verb, it has </a:t>
            </a:r>
            <a:r>
              <a:rPr lang="en-US" b="1" dirty="0" smtClean="0"/>
              <a:t>tense/aspect and voice</a:t>
            </a:r>
            <a:r>
              <a:rPr lang="en-US" dirty="0" smtClean="0"/>
              <a:t>.  </a:t>
            </a:r>
          </a:p>
          <a:p>
            <a:pPr lvl="1"/>
            <a:r>
              <a:rPr lang="en-US" dirty="0" smtClean="0"/>
              <a:t>It may have arguments [SBJ, OBJ, PNOM, OCOMP] </a:t>
            </a:r>
          </a:p>
          <a:p>
            <a:pPr lvl="1"/>
            <a:r>
              <a:rPr lang="en-US" dirty="0" smtClean="0"/>
              <a:t>It may have ancillaries [ADV]</a:t>
            </a:r>
          </a:p>
          <a:p>
            <a:endParaRPr lang="en-US" dirty="0" smtClean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075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80359"/>
            <a:ext cx="10352084" cy="741146"/>
          </a:xfrm>
        </p:spPr>
        <p:txBody>
          <a:bodyPr/>
          <a:lstStyle/>
          <a:p>
            <a:r>
              <a:rPr lang="en-US" dirty="0"/>
              <a:t>In English, usually translated –</a:t>
            </a:r>
            <a:r>
              <a:rPr lang="en-US" dirty="0" err="1"/>
              <a:t>ing</a:t>
            </a:r>
            <a:r>
              <a:rPr lang="en-US" dirty="0"/>
              <a:t> [</a:t>
            </a:r>
            <a:r>
              <a:rPr lang="en-US" dirty="0" err="1"/>
              <a:t>pres</a:t>
            </a:r>
            <a:r>
              <a:rPr lang="en-US" dirty="0"/>
              <a:t>] or –</a:t>
            </a:r>
            <a:r>
              <a:rPr lang="en-US" dirty="0" err="1"/>
              <a:t>ed</a:t>
            </a:r>
            <a:r>
              <a:rPr lang="en-US" dirty="0"/>
              <a:t> [past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376413"/>
            <a:ext cx="10352084" cy="4932948"/>
          </a:xfrm>
        </p:spPr>
        <p:txBody>
          <a:bodyPr>
            <a:normAutofit/>
          </a:bodyPr>
          <a:lstStyle/>
          <a:p>
            <a:r>
              <a:rPr lang="en-US" u="sng" dirty="0" smtClean="0"/>
              <a:t>Walking</a:t>
            </a:r>
            <a:r>
              <a:rPr lang="en-US" dirty="0" smtClean="0"/>
              <a:t> is good exercise. [SBJ]</a:t>
            </a:r>
          </a:p>
          <a:p>
            <a:r>
              <a:rPr lang="en-US" dirty="0"/>
              <a:t>He will prove to </a:t>
            </a:r>
            <a:r>
              <a:rPr lang="en-US" dirty="0" smtClean="0"/>
              <a:t>have </a:t>
            </a:r>
            <a:r>
              <a:rPr lang="en-US" u="sng" dirty="0" smtClean="0"/>
              <a:t>done</a:t>
            </a:r>
            <a:r>
              <a:rPr lang="en-US" dirty="0" smtClean="0"/>
              <a:t> nothing wrong [PNOM with its own OBJ]</a:t>
            </a:r>
            <a:endParaRPr lang="en-US" dirty="0"/>
          </a:p>
          <a:p>
            <a:r>
              <a:rPr lang="en-US" dirty="0" smtClean="0"/>
              <a:t>She hurried along, not </a:t>
            </a:r>
            <a:r>
              <a:rPr lang="en-US" u="sng" dirty="0" smtClean="0"/>
              <a:t>stopping</a:t>
            </a:r>
            <a:r>
              <a:rPr lang="en-US" dirty="0" smtClean="0"/>
              <a:t> to pick up the paper she dropped. [ADV with its own OBJ]</a:t>
            </a:r>
          </a:p>
          <a:p>
            <a:r>
              <a:rPr lang="en-US" dirty="0" smtClean="0"/>
              <a:t>I drank </a:t>
            </a:r>
            <a:r>
              <a:rPr lang="en-US" u="sng" dirty="0" smtClean="0"/>
              <a:t>bottled</a:t>
            </a:r>
            <a:r>
              <a:rPr lang="en-US" dirty="0" smtClean="0"/>
              <a:t> water. [ATR]</a:t>
            </a:r>
          </a:p>
          <a:p>
            <a:r>
              <a:rPr lang="en-US" dirty="0" smtClean="0"/>
              <a:t>All things </a:t>
            </a:r>
            <a:r>
              <a:rPr lang="en-US" u="sng" dirty="0" smtClean="0"/>
              <a:t>being</a:t>
            </a:r>
            <a:r>
              <a:rPr lang="en-US" dirty="0" smtClean="0"/>
              <a:t> equal, I would prefer to go home now. </a:t>
            </a:r>
            <a:br>
              <a:rPr lang="en-US" dirty="0" smtClean="0"/>
            </a:br>
            <a:r>
              <a:rPr lang="en-US" dirty="0" smtClean="0"/>
              <a:t>	[ADV used absolutely]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70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24118"/>
            <a:ext cx="10352084" cy="582707"/>
          </a:xfrm>
        </p:spPr>
        <p:txBody>
          <a:bodyPr>
            <a:normAutofit/>
          </a:bodyPr>
          <a:lstStyle/>
          <a:p>
            <a:r>
              <a:rPr lang="en-US" dirty="0" smtClean="0"/>
              <a:t>Top 20 Participles in </a:t>
            </a:r>
            <a:r>
              <a:rPr lang="en-US" i="1" dirty="0" err="1" smtClean="0"/>
              <a:t>Hellenika</a:t>
            </a:r>
            <a:r>
              <a:rPr lang="en-US" i="1" dirty="0" smtClean="0"/>
              <a:t> </a:t>
            </a:r>
            <a:r>
              <a:rPr lang="en-US" dirty="0" smtClean="0"/>
              <a:t>1-3 </a:t>
            </a:r>
            <a:r>
              <a:rPr lang="en-US" sz="3100" dirty="0" smtClean="0"/>
              <a:t>(by lemma)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5535815"/>
              </p:ext>
            </p:extLst>
          </p:nvPr>
        </p:nvGraphicFramePr>
        <p:xfrm>
          <a:off x="540516" y="928838"/>
          <a:ext cx="11319308" cy="5706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522">
                  <a:extLst>
                    <a:ext uri="{9D8B030D-6E8A-4147-A177-3AD203B41FA5}">
                      <a16:colId xmlns:a16="http://schemas.microsoft.com/office/drawing/2014/main" val="3405156656"/>
                    </a:ext>
                  </a:extLst>
                </a:gridCol>
                <a:gridCol w="1145403">
                  <a:extLst>
                    <a:ext uri="{9D8B030D-6E8A-4147-A177-3AD203B41FA5}">
                      <a16:colId xmlns:a16="http://schemas.microsoft.com/office/drawing/2014/main" val="1315449304"/>
                    </a:ext>
                  </a:extLst>
                </a:gridCol>
                <a:gridCol w="539015">
                  <a:extLst>
                    <a:ext uri="{9D8B030D-6E8A-4147-A177-3AD203B41FA5}">
                      <a16:colId xmlns:a16="http://schemas.microsoft.com/office/drawing/2014/main" val="3350414994"/>
                    </a:ext>
                  </a:extLst>
                </a:gridCol>
                <a:gridCol w="741148">
                  <a:extLst>
                    <a:ext uri="{9D8B030D-6E8A-4147-A177-3AD203B41FA5}">
                      <a16:colId xmlns:a16="http://schemas.microsoft.com/office/drawing/2014/main" val="2642310738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472528074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223872034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824538202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467197142"/>
                    </a:ext>
                  </a:extLst>
                </a:gridCol>
                <a:gridCol w="779644">
                  <a:extLst>
                    <a:ext uri="{9D8B030D-6E8A-4147-A177-3AD203B41FA5}">
                      <a16:colId xmlns:a16="http://schemas.microsoft.com/office/drawing/2014/main" val="2717570553"/>
                    </a:ext>
                  </a:extLst>
                </a:gridCol>
                <a:gridCol w="837400">
                  <a:extLst>
                    <a:ext uri="{9D8B030D-6E8A-4147-A177-3AD203B41FA5}">
                      <a16:colId xmlns:a16="http://schemas.microsoft.com/office/drawing/2014/main" val="3720978036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41170070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0420247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05833159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93329973"/>
                    </a:ext>
                  </a:extLst>
                </a:gridCol>
              </a:tblGrid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fem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present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perf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act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middle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pass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966449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εἰμί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22611276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6050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γίγνομαι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56268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πράσσω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318506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λαμβάνω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8116201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πέμπω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93043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ἄρχω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0107154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ποιέω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916272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βούλομαι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280089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λέγω3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58017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νομίζω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0577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εἶπον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351203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ἀκούω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890770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γιγνώσκω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5956680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ἀφικνέομαι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63700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ἄγω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618034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φάσκω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8007398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θύω1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136768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ἔρχομαι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541967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δοκέω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634258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0793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96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42048"/>
            <a:ext cx="10352084" cy="5468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Only 12 lemmas occur more than 20x total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561717"/>
              </p:ext>
            </p:extLst>
          </p:nvPr>
        </p:nvGraphicFramePr>
        <p:xfrm>
          <a:off x="540516" y="928838"/>
          <a:ext cx="11319308" cy="5706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522">
                  <a:extLst>
                    <a:ext uri="{9D8B030D-6E8A-4147-A177-3AD203B41FA5}">
                      <a16:colId xmlns:a16="http://schemas.microsoft.com/office/drawing/2014/main" val="3405156656"/>
                    </a:ext>
                  </a:extLst>
                </a:gridCol>
                <a:gridCol w="1145403">
                  <a:extLst>
                    <a:ext uri="{9D8B030D-6E8A-4147-A177-3AD203B41FA5}">
                      <a16:colId xmlns:a16="http://schemas.microsoft.com/office/drawing/2014/main" val="1315449304"/>
                    </a:ext>
                  </a:extLst>
                </a:gridCol>
                <a:gridCol w="539015">
                  <a:extLst>
                    <a:ext uri="{9D8B030D-6E8A-4147-A177-3AD203B41FA5}">
                      <a16:colId xmlns:a16="http://schemas.microsoft.com/office/drawing/2014/main" val="3350414994"/>
                    </a:ext>
                  </a:extLst>
                </a:gridCol>
                <a:gridCol w="741148">
                  <a:extLst>
                    <a:ext uri="{9D8B030D-6E8A-4147-A177-3AD203B41FA5}">
                      <a16:colId xmlns:a16="http://schemas.microsoft.com/office/drawing/2014/main" val="2642310738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472528074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223872034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824538202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467197142"/>
                    </a:ext>
                  </a:extLst>
                </a:gridCol>
                <a:gridCol w="779644">
                  <a:extLst>
                    <a:ext uri="{9D8B030D-6E8A-4147-A177-3AD203B41FA5}">
                      <a16:colId xmlns:a16="http://schemas.microsoft.com/office/drawing/2014/main" val="2717570553"/>
                    </a:ext>
                  </a:extLst>
                </a:gridCol>
                <a:gridCol w="837400">
                  <a:extLst>
                    <a:ext uri="{9D8B030D-6E8A-4147-A177-3AD203B41FA5}">
                      <a16:colId xmlns:a16="http://schemas.microsoft.com/office/drawing/2014/main" val="3720978036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41170070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0420247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05833159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93329973"/>
                    </a:ext>
                  </a:extLst>
                </a:gridCol>
              </a:tblGrid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fem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present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perf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act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middle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pass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966449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εἰμί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22611276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6050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γίγνομαι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56268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πράσσω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318506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λαμβάνω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8116201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πέμπω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93043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ἄρχω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0107154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ποιέω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916272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βούλομαι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280089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λέγω3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58017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νομίζω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0577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εἶπον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351203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ἀκούω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890770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γιγνώσκω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5956680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ἀφικνέομαι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63700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ἄγω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618034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φάσκω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8007398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θύω1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136768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ἔρχομαι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541967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δοκέω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634258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457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0793647"/>
                  </a:ext>
                </a:extLst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702644" y="928837"/>
            <a:ext cx="2589196" cy="3441031"/>
          </a:xfrm>
          <a:prstGeom prst="roundRect">
            <a:avLst/>
          </a:pr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3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24118"/>
            <a:ext cx="10352084" cy="56914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great majority are masculine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0516" y="928838"/>
          <a:ext cx="11319308" cy="5706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522">
                  <a:extLst>
                    <a:ext uri="{9D8B030D-6E8A-4147-A177-3AD203B41FA5}">
                      <a16:colId xmlns:a16="http://schemas.microsoft.com/office/drawing/2014/main" val="3405156656"/>
                    </a:ext>
                  </a:extLst>
                </a:gridCol>
                <a:gridCol w="1145403">
                  <a:extLst>
                    <a:ext uri="{9D8B030D-6E8A-4147-A177-3AD203B41FA5}">
                      <a16:colId xmlns:a16="http://schemas.microsoft.com/office/drawing/2014/main" val="1315449304"/>
                    </a:ext>
                  </a:extLst>
                </a:gridCol>
                <a:gridCol w="539015">
                  <a:extLst>
                    <a:ext uri="{9D8B030D-6E8A-4147-A177-3AD203B41FA5}">
                      <a16:colId xmlns:a16="http://schemas.microsoft.com/office/drawing/2014/main" val="3350414994"/>
                    </a:ext>
                  </a:extLst>
                </a:gridCol>
                <a:gridCol w="741148">
                  <a:extLst>
                    <a:ext uri="{9D8B030D-6E8A-4147-A177-3AD203B41FA5}">
                      <a16:colId xmlns:a16="http://schemas.microsoft.com/office/drawing/2014/main" val="2642310738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472528074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223872034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824538202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467197142"/>
                    </a:ext>
                  </a:extLst>
                </a:gridCol>
                <a:gridCol w="779644">
                  <a:extLst>
                    <a:ext uri="{9D8B030D-6E8A-4147-A177-3AD203B41FA5}">
                      <a16:colId xmlns:a16="http://schemas.microsoft.com/office/drawing/2014/main" val="2717570553"/>
                    </a:ext>
                  </a:extLst>
                </a:gridCol>
                <a:gridCol w="837400">
                  <a:extLst>
                    <a:ext uri="{9D8B030D-6E8A-4147-A177-3AD203B41FA5}">
                      <a16:colId xmlns:a16="http://schemas.microsoft.com/office/drawing/2014/main" val="3720978036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41170070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0420247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05833159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93329973"/>
                    </a:ext>
                  </a:extLst>
                </a:gridCol>
              </a:tblGrid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fem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present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perf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act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middle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pass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966449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εἰμί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22611276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6050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γίγνομαι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56268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πράσσω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318506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λαμβάνω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8116201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πέμπω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93043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ἄρχω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0107154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ποιέω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916272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βούλομαι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280089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λέγω3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58017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νομίζω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0577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εἶπον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351203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ἀκούω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890770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γιγνώσκω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5956680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ἀφικνέομαι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63700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ἄγω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618034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φάσκω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8007398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θύω1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136768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ἔρχομαι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541967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δοκέω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634258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0793647"/>
                  </a:ext>
                </a:extLst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3080085" y="798897"/>
            <a:ext cx="2589196" cy="5972476"/>
          </a:xfrm>
          <a:prstGeom prst="roundRect">
            <a:avLst/>
          </a:pr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8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51013"/>
            <a:ext cx="10352084" cy="5378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Three are commonly feminine and/or neuter as well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0516" y="928838"/>
          <a:ext cx="11319308" cy="5706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522">
                  <a:extLst>
                    <a:ext uri="{9D8B030D-6E8A-4147-A177-3AD203B41FA5}">
                      <a16:colId xmlns:a16="http://schemas.microsoft.com/office/drawing/2014/main" val="3405156656"/>
                    </a:ext>
                  </a:extLst>
                </a:gridCol>
                <a:gridCol w="1145403">
                  <a:extLst>
                    <a:ext uri="{9D8B030D-6E8A-4147-A177-3AD203B41FA5}">
                      <a16:colId xmlns:a16="http://schemas.microsoft.com/office/drawing/2014/main" val="1315449304"/>
                    </a:ext>
                  </a:extLst>
                </a:gridCol>
                <a:gridCol w="539015">
                  <a:extLst>
                    <a:ext uri="{9D8B030D-6E8A-4147-A177-3AD203B41FA5}">
                      <a16:colId xmlns:a16="http://schemas.microsoft.com/office/drawing/2014/main" val="3350414994"/>
                    </a:ext>
                  </a:extLst>
                </a:gridCol>
                <a:gridCol w="741148">
                  <a:extLst>
                    <a:ext uri="{9D8B030D-6E8A-4147-A177-3AD203B41FA5}">
                      <a16:colId xmlns:a16="http://schemas.microsoft.com/office/drawing/2014/main" val="2642310738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472528074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223872034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824538202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467197142"/>
                    </a:ext>
                  </a:extLst>
                </a:gridCol>
                <a:gridCol w="779644">
                  <a:extLst>
                    <a:ext uri="{9D8B030D-6E8A-4147-A177-3AD203B41FA5}">
                      <a16:colId xmlns:a16="http://schemas.microsoft.com/office/drawing/2014/main" val="2717570553"/>
                    </a:ext>
                  </a:extLst>
                </a:gridCol>
                <a:gridCol w="837400">
                  <a:extLst>
                    <a:ext uri="{9D8B030D-6E8A-4147-A177-3AD203B41FA5}">
                      <a16:colId xmlns:a16="http://schemas.microsoft.com/office/drawing/2014/main" val="3720978036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41170070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0420247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05833159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93329973"/>
                    </a:ext>
                  </a:extLst>
                </a:gridCol>
              </a:tblGrid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fem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present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perf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act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middle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pass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966449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εἰμί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22611276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6050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γίγνομαι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56268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πράσσω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318506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λαμβάνω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8116201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πέμπω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93043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ἄρχω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0107154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ποιέω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916272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βούλομαι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280089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λέγω3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58017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νομίζω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0577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εἶπον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351203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ἀκούω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890770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γιγνώσκω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5956680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ἀφικνέομαι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63700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ἄγω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618034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φάσκω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8007398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θύω1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136768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ἔρχομαι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541967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δοκέω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634258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0793647"/>
                  </a:ext>
                </a:extLst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635267" y="1212783"/>
            <a:ext cx="4803007" cy="259882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35267" y="1684421"/>
            <a:ext cx="4803007" cy="585537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4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24118"/>
            <a:ext cx="10352084" cy="57374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great majority are Present or Aorist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0516" y="928838"/>
          <a:ext cx="11319308" cy="5706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522">
                  <a:extLst>
                    <a:ext uri="{9D8B030D-6E8A-4147-A177-3AD203B41FA5}">
                      <a16:colId xmlns:a16="http://schemas.microsoft.com/office/drawing/2014/main" val="3405156656"/>
                    </a:ext>
                  </a:extLst>
                </a:gridCol>
                <a:gridCol w="1145403">
                  <a:extLst>
                    <a:ext uri="{9D8B030D-6E8A-4147-A177-3AD203B41FA5}">
                      <a16:colId xmlns:a16="http://schemas.microsoft.com/office/drawing/2014/main" val="1315449304"/>
                    </a:ext>
                  </a:extLst>
                </a:gridCol>
                <a:gridCol w="539015">
                  <a:extLst>
                    <a:ext uri="{9D8B030D-6E8A-4147-A177-3AD203B41FA5}">
                      <a16:colId xmlns:a16="http://schemas.microsoft.com/office/drawing/2014/main" val="3350414994"/>
                    </a:ext>
                  </a:extLst>
                </a:gridCol>
                <a:gridCol w="741148">
                  <a:extLst>
                    <a:ext uri="{9D8B030D-6E8A-4147-A177-3AD203B41FA5}">
                      <a16:colId xmlns:a16="http://schemas.microsoft.com/office/drawing/2014/main" val="2642310738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472528074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223872034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824538202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467197142"/>
                    </a:ext>
                  </a:extLst>
                </a:gridCol>
                <a:gridCol w="779644">
                  <a:extLst>
                    <a:ext uri="{9D8B030D-6E8A-4147-A177-3AD203B41FA5}">
                      <a16:colId xmlns:a16="http://schemas.microsoft.com/office/drawing/2014/main" val="2717570553"/>
                    </a:ext>
                  </a:extLst>
                </a:gridCol>
                <a:gridCol w="837400">
                  <a:extLst>
                    <a:ext uri="{9D8B030D-6E8A-4147-A177-3AD203B41FA5}">
                      <a16:colId xmlns:a16="http://schemas.microsoft.com/office/drawing/2014/main" val="3720978036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41170070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0420247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05833159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93329973"/>
                    </a:ext>
                  </a:extLst>
                </a:gridCol>
              </a:tblGrid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fem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present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perf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act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middle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pass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966449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εἰμί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22611276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6050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γίγνομαι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56268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πράσσω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318506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λαμβάνω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8116201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πέμπω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93043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ἄρχω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0107154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ποιέω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916272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βούλομαι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280089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λέγω3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58017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νομίζω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0577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εἶπον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351203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ἀκούω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890770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γιγνώσκω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5956680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ἀφικνέομαι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63700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ἄγω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618034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φάσκω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8007398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θύω1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136768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ἔρχομαι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541967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δοκέω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634258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0793647"/>
                  </a:ext>
                </a:extLst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5235388" y="928838"/>
            <a:ext cx="3744983" cy="5706956"/>
          </a:xfrm>
          <a:prstGeom prst="roundRect">
            <a:avLst/>
          </a:pr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3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164435"/>
            <a:ext cx="10352084" cy="615495"/>
          </a:xfrm>
        </p:spPr>
        <p:txBody>
          <a:bodyPr>
            <a:normAutofit/>
          </a:bodyPr>
          <a:lstStyle/>
          <a:p>
            <a:r>
              <a:rPr lang="en-US" dirty="0" smtClean="0"/>
              <a:t>Some are mostly or exclusively Present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0516" y="928838"/>
          <a:ext cx="11319308" cy="5706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522">
                  <a:extLst>
                    <a:ext uri="{9D8B030D-6E8A-4147-A177-3AD203B41FA5}">
                      <a16:colId xmlns:a16="http://schemas.microsoft.com/office/drawing/2014/main" val="3405156656"/>
                    </a:ext>
                  </a:extLst>
                </a:gridCol>
                <a:gridCol w="1145403">
                  <a:extLst>
                    <a:ext uri="{9D8B030D-6E8A-4147-A177-3AD203B41FA5}">
                      <a16:colId xmlns:a16="http://schemas.microsoft.com/office/drawing/2014/main" val="1315449304"/>
                    </a:ext>
                  </a:extLst>
                </a:gridCol>
                <a:gridCol w="539015">
                  <a:extLst>
                    <a:ext uri="{9D8B030D-6E8A-4147-A177-3AD203B41FA5}">
                      <a16:colId xmlns:a16="http://schemas.microsoft.com/office/drawing/2014/main" val="3350414994"/>
                    </a:ext>
                  </a:extLst>
                </a:gridCol>
                <a:gridCol w="741148">
                  <a:extLst>
                    <a:ext uri="{9D8B030D-6E8A-4147-A177-3AD203B41FA5}">
                      <a16:colId xmlns:a16="http://schemas.microsoft.com/office/drawing/2014/main" val="2642310738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472528074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223872034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824538202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467197142"/>
                    </a:ext>
                  </a:extLst>
                </a:gridCol>
                <a:gridCol w="779644">
                  <a:extLst>
                    <a:ext uri="{9D8B030D-6E8A-4147-A177-3AD203B41FA5}">
                      <a16:colId xmlns:a16="http://schemas.microsoft.com/office/drawing/2014/main" val="2717570553"/>
                    </a:ext>
                  </a:extLst>
                </a:gridCol>
                <a:gridCol w="837400">
                  <a:extLst>
                    <a:ext uri="{9D8B030D-6E8A-4147-A177-3AD203B41FA5}">
                      <a16:colId xmlns:a16="http://schemas.microsoft.com/office/drawing/2014/main" val="3720978036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41170070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0420247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05833159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93329973"/>
                    </a:ext>
                  </a:extLst>
                </a:gridCol>
              </a:tblGrid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fem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present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perf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act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middle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pass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966449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εἰμί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22611276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6050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γίγνομαι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56268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πράσσω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318506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λαμβάνω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8116201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πέμπω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93043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ἄρχω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0107154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ποιέω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916272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βούλομαι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280089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λέγω3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58017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νομίζω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0577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εἶπον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351203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ἀκούω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890770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γιγνώσκω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5956680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ἀφικνέομαι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63700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ἄγω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618034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φάσκω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8007398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θύω1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136768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ἔρχομαι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541967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δοκέω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634258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079364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736657" y="1126155"/>
            <a:ext cx="473135" cy="625643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736657" y="2713518"/>
            <a:ext cx="473134" cy="337689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736657" y="3266168"/>
            <a:ext cx="473134" cy="814944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736657" y="5072514"/>
            <a:ext cx="482760" cy="770021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7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03737"/>
            <a:ext cx="10352084" cy="603087"/>
          </a:xfrm>
        </p:spPr>
        <p:txBody>
          <a:bodyPr>
            <a:normAutofit/>
          </a:bodyPr>
          <a:lstStyle/>
          <a:p>
            <a:r>
              <a:rPr lang="en-US" dirty="0" smtClean="0"/>
              <a:t>Some are mostly or exclusively Aorist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0516" y="928838"/>
          <a:ext cx="11319308" cy="5706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522">
                  <a:extLst>
                    <a:ext uri="{9D8B030D-6E8A-4147-A177-3AD203B41FA5}">
                      <a16:colId xmlns:a16="http://schemas.microsoft.com/office/drawing/2014/main" val="3405156656"/>
                    </a:ext>
                  </a:extLst>
                </a:gridCol>
                <a:gridCol w="1145403">
                  <a:extLst>
                    <a:ext uri="{9D8B030D-6E8A-4147-A177-3AD203B41FA5}">
                      <a16:colId xmlns:a16="http://schemas.microsoft.com/office/drawing/2014/main" val="1315449304"/>
                    </a:ext>
                  </a:extLst>
                </a:gridCol>
                <a:gridCol w="539015">
                  <a:extLst>
                    <a:ext uri="{9D8B030D-6E8A-4147-A177-3AD203B41FA5}">
                      <a16:colId xmlns:a16="http://schemas.microsoft.com/office/drawing/2014/main" val="3350414994"/>
                    </a:ext>
                  </a:extLst>
                </a:gridCol>
                <a:gridCol w="741148">
                  <a:extLst>
                    <a:ext uri="{9D8B030D-6E8A-4147-A177-3AD203B41FA5}">
                      <a16:colId xmlns:a16="http://schemas.microsoft.com/office/drawing/2014/main" val="2642310738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472528074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223872034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824538202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467197142"/>
                    </a:ext>
                  </a:extLst>
                </a:gridCol>
                <a:gridCol w="779644">
                  <a:extLst>
                    <a:ext uri="{9D8B030D-6E8A-4147-A177-3AD203B41FA5}">
                      <a16:colId xmlns:a16="http://schemas.microsoft.com/office/drawing/2014/main" val="2717570553"/>
                    </a:ext>
                  </a:extLst>
                </a:gridCol>
                <a:gridCol w="837400">
                  <a:extLst>
                    <a:ext uri="{9D8B030D-6E8A-4147-A177-3AD203B41FA5}">
                      <a16:colId xmlns:a16="http://schemas.microsoft.com/office/drawing/2014/main" val="3720978036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41170070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0420247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05833159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93329973"/>
                    </a:ext>
                  </a:extLst>
                </a:gridCol>
              </a:tblGrid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fem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present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perf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act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middle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pass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966449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εἰμί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22611276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6050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γίγνομαι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56268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πράσσω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318506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λαμβάνω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8116201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πέμπω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93043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ἄρχω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0107154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ποιέω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916272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βούλομαι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280089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λέγω3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58017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νομίζω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0577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εἶπον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351203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ἀκούω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890770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γιγνώσκω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5956680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ἀφικνέομαι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63700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ἄγω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618034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φάσκω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8007398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θύω1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136768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ἔρχομαι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541967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δοκέω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634258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079364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22181" y="1684420"/>
            <a:ext cx="413886" cy="1068405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622181" y="2974205"/>
            <a:ext cx="413885" cy="322447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622181" y="4021753"/>
            <a:ext cx="413884" cy="540621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622181" y="4820648"/>
            <a:ext cx="413883" cy="285553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622181" y="5831302"/>
            <a:ext cx="413883" cy="280740"/>
          </a:xfrm>
          <a:prstGeom prst="roundRect">
            <a:avLst/>
          </a:prstGeom>
          <a:solidFill>
            <a:srgbClr val="00B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178892"/>
            <a:ext cx="10352084" cy="657682"/>
          </a:xfrm>
        </p:spPr>
        <p:txBody>
          <a:bodyPr>
            <a:normAutofit/>
          </a:bodyPr>
          <a:lstStyle/>
          <a:p>
            <a:r>
              <a:rPr lang="en-US" dirty="0" smtClean="0"/>
              <a:t>Most are active or deponent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0516" y="928838"/>
          <a:ext cx="11319308" cy="5706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522">
                  <a:extLst>
                    <a:ext uri="{9D8B030D-6E8A-4147-A177-3AD203B41FA5}">
                      <a16:colId xmlns:a16="http://schemas.microsoft.com/office/drawing/2014/main" val="3405156656"/>
                    </a:ext>
                  </a:extLst>
                </a:gridCol>
                <a:gridCol w="1145403">
                  <a:extLst>
                    <a:ext uri="{9D8B030D-6E8A-4147-A177-3AD203B41FA5}">
                      <a16:colId xmlns:a16="http://schemas.microsoft.com/office/drawing/2014/main" val="1315449304"/>
                    </a:ext>
                  </a:extLst>
                </a:gridCol>
                <a:gridCol w="539015">
                  <a:extLst>
                    <a:ext uri="{9D8B030D-6E8A-4147-A177-3AD203B41FA5}">
                      <a16:colId xmlns:a16="http://schemas.microsoft.com/office/drawing/2014/main" val="3350414994"/>
                    </a:ext>
                  </a:extLst>
                </a:gridCol>
                <a:gridCol w="741148">
                  <a:extLst>
                    <a:ext uri="{9D8B030D-6E8A-4147-A177-3AD203B41FA5}">
                      <a16:colId xmlns:a16="http://schemas.microsoft.com/office/drawing/2014/main" val="2642310738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472528074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223872034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824538202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467197142"/>
                    </a:ext>
                  </a:extLst>
                </a:gridCol>
                <a:gridCol w="779644">
                  <a:extLst>
                    <a:ext uri="{9D8B030D-6E8A-4147-A177-3AD203B41FA5}">
                      <a16:colId xmlns:a16="http://schemas.microsoft.com/office/drawing/2014/main" val="2717570553"/>
                    </a:ext>
                  </a:extLst>
                </a:gridCol>
                <a:gridCol w="837400">
                  <a:extLst>
                    <a:ext uri="{9D8B030D-6E8A-4147-A177-3AD203B41FA5}">
                      <a16:colId xmlns:a16="http://schemas.microsoft.com/office/drawing/2014/main" val="3720978036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41170070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04202471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3605833159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93329973"/>
                    </a:ext>
                  </a:extLst>
                </a:gridCol>
              </a:tblGrid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fem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present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perf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act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middle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pass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966449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εἰμί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22611276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6050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γίγνομαι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56268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πράσσω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318506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λαμβάνω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8116201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πέμπω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93043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ἄρχω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0107154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ποιέω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916272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βούλομαι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2800892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λέγω3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58017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νομίζω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305772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εἶπον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351203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ἀκούω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890770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γιγνώσκω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5956680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ἀφικνέομαι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6370045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ἄγω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618034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φάσκω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8007398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θύω1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1367687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ἔρχομαι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5419673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effectLst/>
                        </a:rPr>
                        <a:t>δοκέω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6342580"/>
                  </a:ext>
                </a:extLst>
              </a:tr>
              <a:tr h="259846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0793647"/>
                  </a:ext>
                </a:extLst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8681987" y="842209"/>
            <a:ext cx="885525" cy="5885850"/>
          </a:xfrm>
          <a:prstGeom prst="roundRect">
            <a:avLst/>
          </a:pr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0741794" y="3262964"/>
            <a:ext cx="375386" cy="288758"/>
          </a:xfrm>
          <a:prstGeom prst="roundRect">
            <a:avLst/>
          </a:pr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9798424" y="1672389"/>
            <a:ext cx="1318756" cy="299846"/>
          </a:xfrm>
          <a:prstGeom prst="roundRect">
            <a:avLst/>
          </a:pr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0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58265"/>
            <a:ext cx="10352084" cy="1207782"/>
          </a:xfrm>
        </p:spPr>
        <p:txBody>
          <a:bodyPr/>
          <a:lstStyle/>
          <a:p>
            <a:r>
              <a:rPr lang="en-US" dirty="0" smtClean="0"/>
              <a:t>Common Participles in Xenophon’s </a:t>
            </a:r>
            <a:r>
              <a:rPr lang="en-US" i="1" dirty="0" err="1" smtClean="0"/>
              <a:t>Hellenika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9694" y="2259106"/>
            <a:ext cx="5432612" cy="13088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 smtClean="0"/>
              <a:t>Present active and deponent</a:t>
            </a:r>
          </a:p>
          <a:p>
            <a:pPr marL="0" indent="0" algn="ctr">
              <a:buNone/>
            </a:pPr>
            <a:r>
              <a:rPr lang="en-US" sz="3200" dirty="0" smtClean="0"/>
              <a:t>Aorist active </a:t>
            </a:r>
            <a:r>
              <a:rPr lang="en-US" sz="3200" dirty="0"/>
              <a:t>and </a:t>
            </a:r>
            <a:r>
              <a:rPr lang="en-US" sz="3200" dirty="0" smtClean="0"/>
              <a:t>middle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453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Present Active Participle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1667435"/>
            <a:ext cx="4300908" cy="4641925"/>
          </a:xfrm>
        </p:spPr>
        <p:txBody>
          <a:bodyPr>
            <a:normAutofit/>
          </a:bodyPr>
          <a:lstStyle/>
          <a:p>
            <a:r>
              <a:rPr lang="en-US" dirty="0" smtClean="0"/>
              <a:t>For a normal –</a:t>
            </a:r>
            <a:r>
              <a:rPr lang="el-GR" dirty="0" smtClean="0"/>
              <a:t>ω </a:t>
            </a:r>
            <a:r>
              <a:rPr lang="en-US" dirty="0" smtClean="0"/>
              <a:t>ending present </a:t>
            </a:r>
          </a:p>
          <a:p>
            <a:r>
              <a:rPr lang="en-US" dirty="0" smtClean="0"/>
              <a:t>Masc and </a:t>
            </a:r>
            <a:r>
              <a:rPr lang="en-US" dirty="0" err="1"/>
              <a:t>n</a:t>
            </a:r>
            <a:r>
              <a:rPr lang="en-US" dirty="0" err="1" smtClean="0"/>
              <a:t>eut</a:t>
            </a:r>
            <a:r>
              <a:rPr lang="en-US" dirty="0" smtClean="0"/>
              <a:t> add –</a:t>
            </a:r>
            <a:r>
              <a:rPr lang="el-GR" dirty="0" smtClean="0"/>
              <a:t>οντ</a:t>
            </a:r>
            <a:r>
              <a:rPr lang="en-US" dirty="0" smtClean="0"/>
              <a:t>–</a:t>
            </a:r>
            <a:r>
              <a:rPr lang="el-GR" dirty="0" smtClean="0"/>
              <a:t> </a:t>
            </a:r>
            <a:r>
              <a:rPr lang="en-US" dirty="0" smtClean="0"/>
              <a:t>to stem</a:t>
            </a:r>
            <a:endParaRPr lang="el-GR" dirty="0" smtClean="0"/>
          </a:p>
          <a:p>
            <a:pPr lvl="1"/>
            <a:r>
              <a:rPr lang="en-US" sz="2800" dirty="0" smtClean="0"/>
              <a:t>3</a:t>
            </a:r>
            <a:r>
              <a:rPr lang="en-US" sz="2800" baseline="30000" dirty="0" smtClean="0"/>
              <a:t>rd</a:t>
            </a:r>
            <a:r>
              <a:rPr lang="en-US" sz="2800" dirty="0" smtClean="0"/>
              <a:t> declension endings</a:t>
            </a:r>
          </a:p>
          <a:p>
            <a:r>
              <a:rPr lang="en-US" dirty="0" smtClean="0"/>
              <a:t>Fem </a:t>
            </a:r>
            <a:r>
              <a:rPr lang="en-US" dirty="0"/>
              <a:t>adds –</a:t>
            </a:r>
            <a:r>
              <a:rPr lang="el-GR" dirty="0"/>
              <a:t>ουσ</a:t>
            </a:r>
            <a:r>
              <a:rPr lang="en-US" dirty="0"/>
              <a:t>– </a:t>
            </a:r>
            <a:r>
              <a:rPr lang="en-US" dirty="0" smtClean="0"/>
              <a:t>to stem</a:t>
            </a:r>
          </a:p>
          <a:p>
            <a:pPr lvl="1"/>
            <a:r>
              <a:rPr lang="en-US" sz="2800" dirty="0" smtClean="0"/>
              <a:t>1</a:t>
            </a:r>
            <a:r>
              <a:rPr lang="en-US" sz="2800" baseline="30000" dirty="0" smtClean="0"/>
              <a:t>st</a:t>
            </a:r>
            <a:r>
              <a:rPr lang="en-US" sz="2800" dirty="0" smtClean="0"/>
              <a:t> declension endings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712292"/>
              </p:ext>
            </p:extLst>
          </p:nvPr>
        </p:nvGraphicFramePr>
        <p:xfrm>
          <a:off x="5387789" y="1766046"/>
          <a:ext cx="6002302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424">
                  <a:extLst>
                    <a:ext uri="{9D8B030D-6E8A-4147-A177-3AD203B41FA5}">
                      <a16:colId xmlns:a16="http://schemas.microsoft.com/office/drawing/2014/main" val="1121594707"/>
                    </a:ext>
                  </a:extLst>
                </a:gridCol>
                <a:gridCol w="1544983">
                  <a:extLst>
                    <a:ext uri="{9D8B030D-6E8A-4147-A177-3AD203B41FA5}">
                      <a16:colId xmlns:a16="http://schemas.microsoft.com/office/drawing/2014/main" val="247899046"/>
                    </a:ext>
                  </a:extLst>
                </a:gridCol>
                <a:gridCol w="1637419">
                  <a:extLst>
                    <a:ext uri="{9D8B030D-6E8A-4147-A177-3AD203B41FA5}">
                      <a16:colId xmlns:a16="http://schemas.microsoft.com/office/drawing/2014/main" val="221060488"/>
                    </a:ext>
                  </a:extLst>
                </a:gridCol>
                <a:gridCol w="1697476">
                  <a:extLst>
                    <a:ext uri="{9D8B030D-6E8A-4147-A177-3AD203B41FA5}">
                      <a16:colId xmlns:a16="http://schemas.microsoft.com/office/drawing/2014/main" val="354902448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SG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masc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fem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neut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420327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nom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ἄγων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ἄγουσα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932805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gen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ἄγοντος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ἀγούσης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ἄγοντος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97114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 err="1">
                          <a:effectLst/>
                        </a:rPr>
                        <a:t>dat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ἄγοντι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ἀγούσῃ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ἄγοντι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4453518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acc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ἄγοντα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ἄγουσαν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011267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18463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nom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ἄγοντες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ἄγουσαι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ἄγοντα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4810799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gen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ἄγόντων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ἀγουσῶν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ἄγόντων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483758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 err="1">
                          <a:effectLst/>
                        </a:rPr>
                        <a:t>dat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ἄγουσι(ν)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ἀγούσαις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ἄγουσι(ν)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38376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acc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ἄγοντας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ἀγούσας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ἄγοντα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21467820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371925" y="2117558"/>
            <a:ext cx="972152" cy="500514"/>
          </a:xfrm>
          <a:prstGeom prst="roundRect">
            <a:avLst/>
          </a:pr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9517782" y="2117558"/>
            <a:ext cx="972152" cy="500514"/>
          </a:xfrm>
          <a:prstGeom prst="roundRect">
            <a:avLst/>
          </a:pr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944853" y="2117558"/>
            <a:ext cx="1179896" cy="500514"/>
          </a:xfrm>
          <a:prstGeom prst="roundRect">
            <a:avLst/>
          </a:prstGeom>
          <a:solidFill>
            <a:srgbClr val="92D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2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Present, Future, </a:t>
            </a:r>
            <a:r>
              <a:rPr lang="en-US" dirty="0"/>
              <a:t>and 2</a:t>
            </a:r>
            <a:r>
              <a:rPr lang="en-US" baseline="30000" dirty="0"/>
              <a:t>nd</a:t>
            </a:r>
            <a:r>
              <a:rPr lang="en-US" dirty="0"/>
              <a:t> Aorist</a:t>
            </a:r>
            <a:r>
              <a:rPr lang="en-US" dirty="0" smtClean="0"/>
              <a:t> Active Participle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1667435"/>
            <a:ext cx="4300908" cy="4641925"/>
          </a:xfrm>
        </p:spPr>
        <p:txBody>
          <a:bodyPr>
            <a:normAutofit/>
          </a:bodyPr>
          <a:lstStyle/>
          <a:p>
            <a:r>
              <a:rPr lang="en-US" sz="2600" dirty="0" smtClean="0"/>
              <a:t>Contract verbs lengthen the vowel in the present</a:t>
            </a:r>
          </a:p>
          <a:p>
            <a:pPr lvl="1"/>
            <a:r>
              <a:rPr lang="el-GR" sz="2200" dirty="0" smtClean="0"/>
              <a:t>τιμάω</a:t>
            </a:r>
            <a:r>
              <a:rPr lang="en-US" sz="2200" dirty="0" smtClean="0"/>
              <a:t> &gt; </a:t>
            </a:r>
            <a:r>
              <a:rPr lang="el-GR" sz="2200" dirty="0" smtClean="0"/>
              <a:t>τιμ</a:t>
            </a:r>
            <a:r>
              <a:rPr lang="el-GR" sz="2200" dirty="0" smtClean="0">
                <a:solidFill>
                  <a:srgbClr val="FF0000"/>
                </a:solidFill>
              </a:rPr>
              <a:t>ῶ</a:t>
            </a:r>
            <a:r>
              <a:rPr lang="el-GR" sz="2200" dirty="0" smtClean="0"/>
              <a:t>ν, τιμ</a:t>
            </a:r>
            <a:r>
              <a:rPr lang="el-GR" sz="2200" dirty="0" smtClean="0">
                <a:solidFill>
                  <a:srgbClr val="FF0000"/>
                </a:solidFill>
              </a:rPr>
              <a:t>ῶ</a:t>
            </a:r>
            <a:r>
              <a:rPr lang="el-GR" sz="2200" dirty="0" smtClean="0"/>
              <a:t>ντος</a:t>
            </a:r>
            <a:r>
              <a:rPr lang="en-US" sz="2200" dirty="0" smtClean="0"/>
              <a:t>, etc.</a:t>
            </a:r>
          </a:p>
          <a:p>
            <a:r>
              <a:rPr lang="en-US" sz="2600" dirty="0" smtClean="0"/>
              <a:t>2</a:t>
            </a:r>
            <a:r>
              <a:rPr lang="en-US" sz="2600" baseline="30000" dirty="0" smtClean="0"/>
              <a:t>nd</a:t>
            </a:r>
            <a:r>
              <a:rPr lang="en-US" sz="2600" dirty="0" smtClean="0"/>
              <a:t> Aorist puts same endings on the aorist stem (3</a:t>
            </a:r>
            <a:r>
              <a:rPr lang="en-US" sz="2600" baseline="30000" dirty="0" smtClean="0"/>
              <a:t>rd</a:t>
            </a:r>
            <a:r>
              <a:rPr lang="en-US" sz="2600" dirty="0" smtClean="0"/>
              <a:t> PP)</a:t>
            </a:r>
          </a:p>
          <a:p>
            <a:pPr lvl="1"/>
            <a:r>
              <a:rPr lang="el-GR" sz="2200" dirty="0" smtClean="0"/>
              <a:t>λείπω, λείψω, </a:t>
            </a:r>
            <a:r>
              <a:rPr lang="el-GR" sz="2200" u="sng" dirty="0" smtClean="0"/>
              <a:t>ἔλιπον</a:t>
            </a:r>
            <a:r>
              <a:rPr lang="en-US" sz="2200" dirty="0" smtClean="0"/>
              <a:t> &gt; </a:t>
            </a:r>
            <a:br>
              <a:rPr lang="en-US" sz="2200" dirty="0" smtClean="0"/>
            </a:br>
            <a:r>
              <a:rPr lang="en-US" sz="2200" dirty="0" smtClean="0"/>
              <a:t>	</a:t>
            </a:r>
            <a:r>
              <a:rPr lang="el-GR" sz="2200" dirty="0" smtClean="0">
                <a:solidFill>
                  <a:srgbClr val="FF0000"/>
                </a:solidFill>
              </a:rPr>
              <a:t>λιπ</a:t>
            </a:r>
            <a:r>
              <a:rPr lang="el-GR" sz="2200" dirty="0" smtClean="0"/>
              <a:t>ών, </a:t>
            </a:r>
            <a:r>
              <a:rPr lang="el-GR" sz="2200" dirty="0" smtClean="0">
                <a:solidFill>
                  <a:srgbClr val="FF0000"/>
                </a:solidFill>
              </a:rPr>
              <a:t>λιπ</a:t>
            </a:r>
            <a:r>
              <a:rPr lang="el-GR" sz="2200" dirty="0" smtClean="0"/>
              <a:t>όντος, </a:t>
            </a:r>
            <a:r>
              <a:rPr lang="en-US" sz="2200" dirty="0" smtClean="0"/>
              <a:t>etc.</a:t>
            </a:r>
            <a:endParaRPr lang="el-GR" sz="2200" dirty="0" smtClean="0"/>
          </a:p>
          <a:p>
            <a:pPr lvl="1"/>
            <a:r>
              <a:rPr lang="el-GR" sz="2200" dirty="0" smtClean="0"/>
              <a:t>ἔρχομαι</a:t>
            </a:r>
            <a:r>
              <a:rPr lang="el-GR" sz="2200" dirty="0"/>
              <a:t>, </a:t>
            </a:r>
            <a:r>
              <a:rPr lang="el-GR" sz="2200" dirty="0" smtClean="0"/>
              <a:t>ἐλεύσομαι</a:t>
            </a:r>
            <a:r>
              <a:rPr lang="en-US" sz="2200" dirty="0" smtClean="0"/>
              <a:t>, </a:t>
            </a:r>
            <a:r>
              <a:rPr lang="el-GR" sz="2200" dirty="0" smtClean="0">
                <a:solidFill>
                  <a:srgbClr val="FF0000"/>
                </a:solidFill>
              </a:rPr>
              <a:t>ἦλθ</a:t>
            </a:r>
            <a:r>
              <a:rPr lang="el-GR" sz="2200" dirty="0" smtClean="0"/>
              <a:t>ον</a:t>
            </a:r>
            <a:r>
              <a:rPr lang="en-US" sz="2200" dirty="0" smtClean="0"/>
              <a:t> &gt;</a:t>
            </a:r>
            <a:r>
              <a:rPr lang="el-GR" sz="2200" dirty="0"/>
              <a:t/>
            </a:r>
            <a:br>
              <a:rPr lang="el-GR" sz="2200" dirty="0"/>
            </a:br>
            <a:r>
              <a:rPr lang="el-GR" sz="2200" dirty="0"/>
              <a:t>	</a:t>
            </a:r>
            <a:r>
              <a:rPr lang="el-GR" sz="2200" dirty="0">
                <a:solidFill>
                  <a:srgbClr val="FF0000"/>
                </a:solidFill>
              </a:rPr>
              <a:t>ἐλθ</a:t>
            </a:r>
            <a:r>
              <a:rPr lang="el-GR" sz="2200" dirty="0"/>
              <a:t>ών, </a:t>
            </a:r>
            <a:r>
              <a:rPr lang="el-GR" sz="2200" dirty="0" smtClean="0">
                <a:solidFill>
                  <a:srgbClr val="FF0000"/>
                </a:solidFill>
              </a:rPr>
              <a:t>ἐλθ</a:t>
            </a:r>
            <a:r>
              <a:rPr lang="el-GR" sz="2200" dirty="0" smtClean="0"/>
              <a:t>όντος, </a:t>
            </a:r>
            <a:r>
              <a:rPr lang="en-US" sz="2200" dirty="0" smtClean="0"/>
              <a:t>etc.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87789" y="1766046"/>
          <a:ext cx="6002302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424">
                  <a:extLst>
                    <a:ext uri="{9D8B030D-6E8A-4147-A177-3AD203B41FA5}">
                      <a16:colId xmlns:a16="http://schemas.microsoft.com/office/drawing/2014/main" val="1121594707"/>
                    </a:ext>
                  </a:extLst>
                </a:gridCol>
                <a:gridCol w="1544983">
                  <a:extLst>
                    <a:ext uri="{9D8B030D-6E8A-4147-A177-3AD203B41FA5}">
                      <a16:colId xmlns:a16="http://schemas.microsoft.com/office/drawing/2014/main" val="247899046"/>
                    </a:ext>
                  </a:extLst>
                </a:gridCol>
                <a:gridCol w="1637419">
                  <a:extLst>
                    <a:ext uri="{9D8B030D-6E8A-4147-A177-3AD203B41FA5}">
                      <a16:colId xmlns:a16="http://schemas.microsoft.com/office/drawing/2014/main" val="221060488"/>
                    </a:ext>
                  </a:extLst>
                </a:gridCol>
                <a:gridCol w="1697476">
                  <a:extLst>
                    <a:ext uri="{9D8B030D-6E8A-4147-A177-3AD203B41FA5}">
                      <a16:colId xmlns:a16="http://schemas.microsoft.com/office/drawing/2014/main" val="354902448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SG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masc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fem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neut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420327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nom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ἄγων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ἄγουσα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932805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gen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ἄγοντος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ἀγούσης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ἄγοντος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97114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 err="1">
                          <a:effectLst/>
                        </a:rPr>
                        <a:t>dat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ἄγοντι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ἀγούσῃ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ἄγοντι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4453518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acc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ἄγοντα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ἄγουσαν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011267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18463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nom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ἄγοντες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ἄγουσαι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ἄγοντα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4810799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gen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ἄγόντων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ἀγουσῶν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ἄγόντων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483758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 err="1">
                          <a:effectLst/>
                        </a:rPr>
                        <a:t>dat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ἄγουσι(ν)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ἀγούσαις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ἄγουσι(ν)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38376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acc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ἄγοντας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ἀγούσας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ἄγοντα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21467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4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Weak Aorist Active</a:t>
            </a:r>
            <a:br>
              <a:rPr lang="en-US" dirty="0" smtClean="0"/>
            </a:br>
            <a:r>
              <a:rPr lang="en-US" sz="3600" dirty="0" smtClean="0"/>
              <a:t>[</a:t>
            </a:r>
            <a:r>
              <a:rPr lang="el-GR" sz="3600" dirty="0" smtClean="0"/>
              <a:t>θύω, θύσω, </a:t>
            </a:r>
            <a:r>
              <a:rPr lang="el-GR" sz="3600" b="1" u="sng" dirty="0" smtClean="0"/>
              <a:t>ἔθυσα</a:t>
            </a:r>
            <a:r>
              <a:rPr lang="el-GR" sz="3600" dirty="0" smtClean="0"/>
              <a:t>, τέθυκα, τέθυμαι, ἐτύθην</a:t>
            </a:r>
            <a:r>
              <a:rPr lang="en-US" sz="3600" dirty="0" smtClean="0"/>
              <a:t>]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156055"/>
            <a:ext cx="4173515" cy="4153305"/>
          </a:xfrm>
        </p:spPr>
        <p:txBody>
          <a:bodyPr/>
          <a:lstStyle/>
          <a:p>
            <a:r>
              <a:rPr lang="en-US" dirty="0" smtClean="0"/>
              <a:t>Start with 3</a:t>
            </a:r>
            <a:r>
              <a:rPr lang="en-US" baseline="30000" dirty="0" smtClean="0"/>
              <a:t>rd</a:t>
            </a:r>
            <a:r>
              <a:rPr lang="en-US" dirty="0" smtClean="0"/>
              <a:t> PP</a:t>
            </a:r>
          </a:p>
          <a:p>
            <a:r>
              <a:rPr lang="en-US" dirty="0" smtClean="0"/>
              <a:t>No augment, but keep the sigma</a:t>
            </a:r>
          </a:p>
          <a:p>
            <a:r>
              <a:rPr lang="en-US" dirty="0" smtClean="0"/>
              <a:t>Masc and </a:t>
            </a:r>
            <a:r>
              <a:rPr lang="en-US" dirty="0" err="1" smtClean="0"/>
              <a:t>neut</a:t>
            </a:r>
            <a:r>
              <a:rPr lang="en-US" dirty="0" smtClean="0"/>
              <a:t> add –</a:t>
            </a:r>
            <a:r>
              <a:rPr lang="el-GR" dirty="0" smtClean="0"/>
              <a:t>αντ</a:t>
            </a:r>
            <a:r>
              <a:rPr lang="en-US" dirty="0" smtClean="0"/>
              <a:t>– </a:t>
            </a:r>
          </a:p>
          <a:p>
            <a:pPr lvl="1"/>
            <a:r>
              <a:rPr lang="en-US" dirty="0" smtClean="0"/>
              <a:t>3rd declension</a:t>
            </a:r>
            <a:r>
              <a:rPr lang="en-US" dirty="0"/>
              <a:t> </a:t>
            </a:r>
            <a:r>
              <a:rPr lang="en-US" dirty="0" smtClean="0"/>
              <a:t>endings</a:t>
            </a:r>
          </a:p>
          <a:p>
            <a:r>
              <a:rPr lang="en-US" dirty="0" smtClean="0"/>
              <a:t>Fem adds –</a:t>
            </a:r>
            <a:r>
              <a:rPr lang="el-GR" dirty="0" smtClean="0"/>
              <a:t>ασ</a:t>
            </a:r>
            <a:r>
              <a:rPr lang="en-US" dirty="0" smtClean="0"/>
              <a:t>– </a:t>
            </a:r>
            <a:endParaRPr lang="en-US" dirty="0"/>
          </a:p>
          <a:p>
            <a:pPr lvl="1"/>
            <a:r>
              <a:rPr lang="en-US" dirty="0" smtClean="0"/>
              <a:t>1st declension endings</a:t>
            </a:r>
            <a:endParaRPr lang="en-US" dirty="0"/>
          </a:p>
          <a:p>
            <a:pPr marL="320675" lvl="1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7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Weak Aorist Active</a:t>
            </a:r>
            <a:br>
              <a:rPr lang="en-US" dirty="0" smtClean="0"/>
            </a:br>
            <a:r>
              <a:rPr lang="en-US" sz="3600" dirty="0" smtClean="0"/>
              <a:t>[</a:t>
            </a:r>
            <a:r>
              <a:rPr lang="el-GR" sz="3600" dirty="0" smtClean="0"/>
              <a:t>θύω, θύσω, </a:t>
            </a:r>
            <a:r>
              <a:rPr lang="el-GR" sz="3600" b="1" u="sng" dirty="0" smtClean="0"/>
              <a:t>ἔθυσα</a:t>
            </a:r>
            <a:r>
              <a:rPr lang="el-GR" sz="3600" dirty="0" smtClean="0"/>
              <a:t>, τέθυκα, τέθυμαι, ἐτύθην</a:t>
            </a:r>
            <a:r>
              <a:rPr lang="en-US" sz="3600" dirty="0" smtClean="0"/>
              <a:t>]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156055"/>
            <a:ext cx="4173515" cy="4153305"/>
          </a:xfrm>
        </p:spPr>
        <p:txBody>
          <a:bodyPr/>
          <a:lstStyle/>
          <a:p>
            <a:r>
              <a:rPr lang="en-US" dirty="0" smtClean="0"/>
              <a:t>Start with 3</a:t>
            </a:r>
            <a:r>
              <a:rPr lang="en-US" baseline="30000" dirty="0" smtClean="0"/>
              <a:t>rd</a:t>
            </a:r>
            <a:r>
              <a:rPr lang="en-US" dirty="0" smtClean="0"/>
              <a:t> PP</a:t>
            </a:r>
          </a:p>
          <a:p>
            <a:r>
              <a:rPr lang="en-US" dirty="0" smtClean="0"/>
              <a:t>No augment, but keep the sigma</a:t>
            </a:r>
          </a:p>
          <a:p>
            <a:r>
              <a:rPr lang="en-US" dirty="0" smtClean="0"/>
              <a:t>Masc and </a:t>
            </a:r>
            <a:r>
              <a:rPr lang="en-US" dirty="0" err="1" smtClean="0"/>
              <a:t>neut</a:t>
            </a:r>
            <a:r>
              <a:rPr lang="en-US" dirty="0" smtClean="0"/>
              <a:t> add –</a:t>
            </a:r>
            <a:r>
              <a:rPr lang="el-GR" dirty="0" smtClean="0"/>
              <a:t>αντ</a:t>
            </a:r>
            <a:r>
              <a:rPr lang="en-US" dirty="0" smtClean="0"/>
              <a:t>– </a:t>
            </a:r>
          </a:p>
          <a:p>
            <a:pPr lvl="1"/>
            <a:r>
              <a:rPr lang="en-US" dirty="0" smtClean="0"/>
              <a:t>3rd declension</a:t>
            </a:r>
            <a:r>
              <a:rPr lang="en-US" dirty="0"/>
              <a:t> </a:t>
            </a:r>
            <a:r>
              <a:rPr lang="en-US" dirty="0" smtClean="0"/>
              <a:t>endings</a:t>
            </a:r>
          </a:p>
          <a:p>
            <a:r>
              <a:rPr lang="en-US" dirty="0" smtClean="0"/>
              <a:t>Fem adds –</a:t>
            </a:r>
            <a:r>
              <a:rPr lang="el-GR" dirty="0" smtClean="0"/>
              <a:t>ασ</a:t>
            </a:r>
            <a:r>
              <a:rPr lang="en-US" dirty="0" smtClean="0"/>
              <a:t>– </a:t>
            </a:r>
            <a:endParaRPr lang="en-US" dirty="0"/>
          </a:p>
          <a:p>
            <a:pPr lvl="1"/>
            <a:r>
              <a:rPr lang="en-US" dirty="0" smtClean="0"/>
              <a:t>1st declension endings</a:t>
            </a:r>
            <a:endParaRPr lang="en-US" dirty="0"/>
          </a:p>
          <a:p>
            <a:pPr marL="320675" lvl="1" indent="0">
              <a:buNone/>
            </a:pP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5265019" y="2156055"/>
          <a:ext cx="6179419" cy="3719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6070">
                  <a:extLst>
                    <a:ext uri="{9D8B030D-6E8A-4147-A177-3AD203B41FA5}">
                      <a16:colId xmlns:a16="http://schemas.microsoft.com/office/drawing/2014/main" val="937830189"/>
                    </a:ext>
                  </a:extLst>
                </a:gridCol>
                <a:gridCol w="1512140">
                  <a:extLst>
                    <a:ext uri="{9D8B030D-6E8A-4147-A177-3AD203B41FA5}">
                      <a16:colId xmlns:a16="http://schemas.microsoft.com/office/drawing/2014/main" val="2620034742"/>
                    </a:ext>
                  </a:extLst>
                </a:gridCol>
                <a:gridCol w="2224591">
                  <a:extLst>
                    <a:ext uri="{9D8B030D-6E8A-4147-A177-3AD203B41FA5}">
                      <a16:colId xmlns:a16="http://schemas.microsoft.com/office/drawing/2014/main" val="3804235103"/>
                    </a:ext>
                  </a:extLst>
                </a:gridCol>
                <a:gridCol w="1686618">
                  <a:extLst>
                    <a:ext uri="{9D8B030D-6E8A-4147-A177-3AD203B41FA5}">
                      <a16:colId xmlns:a16="http://schemas.microsoft.com/office/drawing/2014/main" val="3570864464"/>
                    </a:ext>
                  </a:extLst>
                </a:gridCol>
              </a:tblGrid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SG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masc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fem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neut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362549389"/>
                  </a:ext>
                </a:extLst>
              </a:tr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nom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θύσασα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θῦσαν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2463715773"/>
                  </a:ext>
                </a:extLst>
              </a:tr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gen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θύσαντος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θυσάσης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θύσαντος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1530264096"/>
                  </a:ext>
                </a:extLst>
              </a:tr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dat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θύσαντι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θυσάσῃ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θύσαντι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558501278"/>
                  </a:ext>
                </a:extLst>
              </a:tr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acc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θύσαντα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θύσασαν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θῦσαν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3058297423"/>
                  </a:ext>
                </a:extLst>
              </a:tr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PL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3380794342"/>
                  </a:ext>
                </a:extLst>
              </a:tr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nom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θύσαντες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θύσασαι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θύσαντα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1583681728"/>
                  </a:ext>
                </a:extLst>
              </a:tr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gen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θυσάντων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θυσασῶν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θυσάντων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3211265224"/>
                  </a:ext>
                </a:extLst>
              </a:tr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dat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θύσασι(ν)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θυσάσαις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θύσασι(ν)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170036179"/>
                  </a:ext>
                </a:extLst>
              </a:tr>
              <a:tr h="31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acc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θύσαντας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>
                          <a:effectLst/>
                        </a:rPr>
                        <a:t>θυσάσας</a:t>
                      </a:r>
                      <a:endParaRPr lang="el-GR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400" u="none" strike="noStrike" dirty="0">
                          <a:effectLst/>
                        </a:rPr>
                        <a:t>θύσαντα</a:t>
                      </a:r>
                      <a:endParaRPr lang="el-GR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191" marR="6191" marT="6191" marB="0" anchor="b"/>
                </a:tc>
                <a:extLst>
                  <a:ext uri="{0D108BD9-81ED-4DB2-BD59-A6C34878D82A}">
                    <a16:rowId xmlns:a16="http://schemas.microsoft.com/office/drawing/2014/main" val="96790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00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 Active Participle of </a:t>
            </a:r>
            <a:r>
              <a:rPr lang="el-GR" dirty="0" smtClean="0"/>
              <a:t>-μι </a:t>
            </a:r>
            <a:r>
              <a:rPr lang="en-US" dirty="0" smtClean="0"/>
              <a:t>verbs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24128" y="1617045"/>
            <a:ext cx="10352084" cy="3725920"/>
          </a:xfrm>
        </p:spPr>
        <p:txBody>
          <a:bodyPr/>
          <a:lstStyle/>
          <a:p>
            <a:r>
              <a:rPr lang="en-US" b="1" dirty="0" smtClean="0"/>
              <a:t>Common		Masc (nom, gen)		Fem		</a:t>
            </a:r>
            <a:r>
              <a:rPr lang="en-US" b="1" dirty="0" err="1" smtClean="0"/>
              <a:t>Neut</a:t>
            </a:r>
            <a:endParaRPr lang="el-GR" b="1" dirty="0" smtClean="0"/>
          </a:p>
          <a:p>
            <a:r>
              <a:rPr lang="el-GR" dirty="0" smtClean="0"/>
              <a:t>εἰμι</a:t>
            </a:r>
            <a:r>
              <a:rPr lang="en-US" dirty="0" smtClean="0"/>
              <a:t> 	&gt;	</a:t>
            </a:r>
            <a:r>
              <a:rPr lang="el-GR" dirty="0" smtClean="0"/>
              <a:t>ὤν, ὄντος</a:t>
            </a:r>
            <a:r>
              <a:rPr lang="en-US" dirty="0"/>
              <a:t>	</a:t>
            </a:r>
            <a:r>
              <a:rPr lang="el-GR" dirty="0" smtClean="0"/>
              <a:t>		οὖσα		ὄν</a:t>
            </a:r>
            <a:endParaRPr lang="en-US" dirty="0" smtClean="0"/>
          </a:p>
          <a:p>
            <a:r>
              <a:rPr lang="el-GR" dirty="0" smtClean="0"/>
              <a:t>εἶμι	</a:t>
            </a:r>
            <a:r>
              <a:rPr lang="en-US" dirty="0" smtClean="0"/>
              <a:t>&gt;</a:t>
            </a:r>
            <a:r>
              <a:rPr lang="el-GR" dirty="0" smtClean="0"/>
              <a:t>	ἰών, ἰόντος			ἰοῦσα</a:t>
            </a:r>
            <a:r>
              <a:rPr lang="el-GR" dirty="0"/>
              <a:t>	</a:t>
            </a:r>
            <a:r>
              <a:rPr lang="el-GR" dirty="0" smtClean="0"/>
              <a:t>	ἰόν	</a:t>
            </a:r>
            <a:endParaRPr lang="en-US" dirty="0" smtClean="0"/>
          </a:p>
          <a:p>
            <a:r>
              <a:rPr lang="el-GR" dirty="0" smtClean="0"/>
              <a:t>δίδωμι</a:t>
            </a:r>
            <a:r>
              <a:rPr lang="en-US" dirty="0" smtClean="0"/>
              <a:t> 	&gt;</a:t>
            </a:r>
            <a:r>
              <a:rPr lang="el-GR" dirty="0" smtClean="0"/>
              <a:t>	διδούς, διδόντος 		διδοῦσα	διδόν</a:t>
            </a:r>
          </a:p>
          <a:p>
            <a:r>
              <a:rPr lang="el-GR" dirty="0" smtClean="0"/>
              <a:t>τίθημι </a:t>
            </a:r>
            <a:r>
              <a:rPr lang="en-US" dirty="0" smtClean="0"/>
              <a:t>	&gt;</a:t>
            </a:r>
            <a:r>
              <a:rPr lang="el-GR" dirty="0" smtClean="0"/>
              <a:t>	τιθείς, τιθέντος		τιθεῖσα	τιθέν</a:t>
            </a:r>
            <a:endParaRPr lang="en-US" dirty="0" smtClean="0"/>
          </a:p>
          <a:p>
            <a:r>
              <a:rPr lang="el-GR" dirty="0" smtClean="0"/>
              <a:t>ἵστημι</a:t>
            </a:r>
            <a:r>
              <a:rPr lang="en-US" dirty="0" smtClean="0"/>
              <a:t> 	&gt; </a:t>
            </a:r>
            <a:r>
              <a:rPr lang="el-GR" dirty="0" smtClean="0"/>
              <a:t>	ἱστάς, ἱστάντος		ἱστᾶσα	ἱστάν</a:t>
            </a:r>
          </a:p>
        </p:txBody>
      </p:sp>
    </p:spTree>
    <p:extLst>
      <p:ext uri="{BB962C8B-B14F-4D97-AF65-F5344CB8AC3E}">
        <p14:creationId xmlns:p14="http://schemas.microsoft.com/office/powerpoint/2010/main" val="15509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Deponent, Middle, and M/P Participles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Suffix </a:t>
            </a:r>
            <a:r>
              <a:rPr lang="el-GR" dirty="0" smtClean="0"/>
              <a:t>–μενος, –μένη, –μενον</a:t>
            </a:r>
            <a:endParaRPr lang="en-US" dirty="0" smtClean="0"/>
          </a:p>
          <a:p>
            <a:r>
              <a:rPr lang="en-US" dirty="0" smtClean="0"/>
              <a:t>Added to the stem</a:t>
            </a:r>
          </a:p>
          <a:p>
            <a:pPr lvl="1"/>
            <a:r>
              <a:rPr lang="en-US" dirty="0" smtClean="0"/>
              <a:t>With theme vowel –</a:t>
            </a:r>
            <a:r>
              <a:rPr lang="el-GR" dirty="0" smtClean="0"/>
              <a:t>ο</a:t>
            </a:r>
            <a:r>
              <a:rPr lang="en-US" dirty="0" smtClean="0"/>
              <a:t>– in present, and strong aorist</a:t>
            </a:r>
          </a:p>
          <a:p>
            <a:pPr lvl="1"/>
            <a:r>
              <a:rPr lang="en-US" dirty="0" smtClean="0"/>
              <a:t>With theme vowel –</a:t>
            </a:r>
            <a:r>
              <a:rPr lang="el-GR" dirty="0" smtClean="0"/>
              <a:t>α</a:t>
            </a:r>
            <a:r>
              <a:rPr lang="en-US" dirty="0" smtClean="0"/>
              <a:t>– in weak aorist</a:t>
            </a:r>
          </a:p>
          <a:p>
            <a:pPr lvl="1"/>
            <a:r>
              <a:rPr lang="en-US" dirty="0" smtClean="0"/>
              <a:t>Directly to the stem in –</a:t>
            </a:r>
            <a:r>
              <a:rPr lang="el-GR" dirty="0" smtClean="0"/>
              <a:t>μι</a:t>
            </a:r>
            <a:r>
              <a:rPr lang="en-US" dirty="0" smtClean="0"/>
              <a:t> verbs</a:t>
            </a:r>
          </a:p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and 2</a:t>
            </a:r>
            <a:r>
              <a:rPr lang="en-US" baseline="30000" dirty="0" smtClean="0"/>
              <a:t>nd</a:t>
            </a:r>
            <a:r>
              <a:rPr lang="en-US" dirty="0" smtClean="0"/>
              <a:t> declension endings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l-GR" dirty="0" smtClean="0"/>
              <a:t>πράσσω </a:t>
            </a:r>
            <a:r>
              <a:rPr lang="en-US" dirty="0" smtClean="0"/>
              <a:t>&gt;</a:t>
            </a:r>
            <a:r>
              <a:rPr lang="el-GR" dirty="0"/>
              <a:t> </a:t>
            </a:r>
            <a:r>
              <a:rPr lang="el-GR" dirty="0" smtClean="0"/>
              <a:t>πρασσόμενος</a:t>
            </a:r>
            <a:r>
              <a:rPr lang="en-US" dirty="0" smtClean="0"/>
              <a:t> [</a:t>
            </a:r>
            <a:r>
              <a:rPr lang="en-US" dirty="0" err="1" smtClean="0"/>
              <a:t>pres</a:t>
            </a:r>
            <a:r>
              <a:rPr lang="en-US" dirty="0" smtClean="0"/>
              <a:t>]</a:t>
            </a:r>
            <a:r>
              <a:rPr lang="el-GR" dirty="0" smtClean="0"/>
              <a:t>, πρα</a:t>
            </a:r>
            <a:r>
              <a:rPr lang="el-GR" dirty="0" smtClean="0">
                <a:solidFill>
                  <a:srgbClr val="FF0000"/>
                </a:solidFill>
              </a:rPr>
              <a:t>ξά</a:t>
            </a:r>
            <a:r>
              <a:rPr lang="el-GR" dirty="0" smtClean="0"/>
              <a:t>μενος</a:t>
            </a:r>
            <a:r>
              <a:rPr lang="en-US" dirty="0" smtClean="0"/>
              <a:t> </a:t>
            </a:r>
            <a:r>
              <a:rPr lang="en-US" sz="2400" dirty="0" smtClean="0"/>
              <a:t>[weak </a:t>
            </a:r>
            <a:r>
              <a:rPr lang="en-US" sz="2400" dirty="0" err="1" smtClean="0"/>
              <a:t>aor</a:t>
            </a:r>
            <a:r>
              <a:rPr lang="en-US" sz="2400" dirty="0" smtClean="0"/>
              <a:t>]</a:t>
            </a:r>
          </a:p>
          <a:p>
            <a:r>
              <a:rPr lang="el-GR" dirty="0" smtClean="0"/>
              <a:t>ἄγω</a:t>
            </a:r>
            <a:r>
              <a:rPr lang="en-US" dirty="0" smtClean="0"/>
              <a:t> &gt; </a:t>
            </a:r>
            <a:r>
              <a:rPr lang="el-GR" dirty="0" smtClean="0"/>
              <a:t>ἀγ</a:t>
            </a:r>
            <a:r>
              <a:rPr lang="el-GR" dirty="0" smtClean="0">
                <a:solidFill>
                  <a:srgbClr val="FF0000"/>
                </a:solidFill>
              </a:rPr>
              <a:t>ό</a:t>
            </a:r>
            <a:r>
              <a:rPr lang="el-GR" dirty="0" smtClean="0"/>
              <a:t>μενος</a:t>
            </a:r>
            <a:r>
              <a:rPr lang="en-US" dirty="0" smtClean="0"/>
              <a:t> [</a:t>
            </a:r>
            <a:r>
              <a:rPr lang="en-US" dirty="0" err="1" smtClean="0"/>
              <a:t>pres</a:t>
            </a:r>
            <a:r>
              <a:rPr lang="en-US" dirty="0" smtClean="0"/>
              <a:t>]</a:t>
            </a:r>
            <a:r>
              <a:rPr lang="el-GR" dirty="0" smtClean="0"/>
              <a:t>, </a:t>
            </a:r>
            <a:r>
              <a:rPr lang="el-GR" dirty="0" smtClean="0">
                <a:solidFill>
                  <a:srgbClr val="FF0000"/>
                </a:solidFill>
              </a:rPr>
              <a:t>ἀγαγό</a:t>
            </a:r>
            <a:r>
              <a:rPr lang="el-GR" dirty="0" smtClean="0"/>
              <a:t>μενος</a:t>
            </a:r>
            <a:r>
              <a:rPr lang="en-US" dirty="0" smtClean="0"/>
              <a:t> </a:t>
            </a:r>
            <a:r>
              <a:rPr lang="en-US" sz="2400" dirty="0" smtClean="0"/>
              <a:t>[strong </a:t>
            </a:r>
            <a:r>
              <a:rPr lang="en-US" sz="2400" dirty="0" err="1" smtClean="0"/>
              <a:t>aor</a:t>
            </a:r>
            <a:r>
              <a:rPr lang="en-US" sz="2400" dirty="0" smtClean="0"/>
              <a:t>]</a:t>
            </a:r>
            <a:endParaRPr lang="el-GR" sz="2400" dirty="0" smtClean="0"/>
          </a:p>
          <a:p>
            <a:r>
              <a:rPr lang="el-GR" dirty="0" smtClean="0"/>
              <a:t>ἵστημι</a:t>
            </a:r>
            <a:r>
              <a:rPr lang="en-US" dirty="0" smtClean="0"/>
              <a:t> &gt; </a:t>
            </a:r>
            <a:r>
              <a:rPr lang="el-GR" dirty="0" smtClean="0"/>
              <a:t>ἱστ</a:t>
            </a:r>
            <a:r>
              <a:rPr lang="el-GR" dirty="0" smtClean="0">
                <a:solidFill>
                  <a:srgbClr val="FF0000"/>
                </a:solidFill>
              </a:rPr>
              <a:t>ά</a:t>
            </a:r>
            <a:r>
              <a:rPr lang="el-GR" dirty="0" smtClean="0"/>
              <a:t>μενος</a:t>
            </a:r>
            <a:r>
              <a:rPr lang="en-US" dirty="0" smtClean="0"/>
              <a:t> [</a:t>
            </a:r>
            <a:r>
              <a:rPr lang="en-US" dirty="0" err="1" smtClean="0"/>
              <a:t>pres</a:t>
            </a:r>
            <a:r>
              <a:rPr lang="en-US" dirty="0" smtClean="0"/>
              <a:t>]</a:t>
            </a:r>
            <a:r>
              <a:rPr lang="el-GR" dirty="0" smtClean="0"/>
              <a:t>, στη</a:t>
            </a:r>
            <a:r>
              <a:rPr lang="el-GR" dirty="0" smtClean="0">
                <a:solidFill>
                  <a:srgbClr val="FF0000"/>
                </a:solidFill>
              </a:rPr>
              <a:t>σά</a:t>
            </a:r>
            <a:r>
              <a:rPr lang="el-GR" dirty="0" smtClean="0"/>
              <a:t>μενος</a:t>
            </a:r>
            <a:r>
              <a:rPr lang="en-US" dirty="0" smtClean="0"/>
              <a:t> [</a:t>
            </a:r>
            <a:r>
              <a:rPr lang="en-US" dirty="0" err="1" smtClean="0"/>
              <a:t>aor</a:t>
            </a:r>
            <a:r>
              <a:rPr lang="en-US" dirty="0" smtClean="0"/>
              <a:t>]</a:t>
            </a:r>
            <a:endParaRPr lang="el-GR" dirty="0" smtClean="0"/>
          </a:p>
        </p:txBody>
      </p:sp>
    </p:spTree>
    <p:extLst>
      <p:ext uri="{BB962C8B-B14F-4D97-AF65-F5344CB8AC3E}">
        <p14:creationId xmlns:p14="http://schemas.microsoft.com/office/powerpoint/2010/main" val="6150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58265"/>
            <a:ext cx="10352084" cy="598182"/>
          </a:xfrm>
        </p:spPr>
        <p:txBody>
          <a:bodyPr>
            <a:normAutofit/>
          </a:bodyPr>
          <a:lstStyle/>
          <a:p>
            <a:r>
              <a:rPr lang="en-US" dirty="0"/>
              <a:t>Aorist </a:t>
            </a:r>
            <a:r>
              <a:rPr lang="en-US" dirty="0" smtClean="0"/>
              <a:t>Passive Participle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398494"/>
            <a:ext cx="10352084" cy="4910867"/>
          </a:xfrm>
        </p:spPr>
        <p:txBody>
          <a:bodyPr>
            <a:normAutofit/>
          </a:bodyPr>
          <a:lstStyle/>
          <a:p>
            <a:r>
              <a:rPr lang="en-US" dirty="0" smtClean="0"/>
              <a:t>PP = </a:t>
            </a:r>
            <a:r>
              <a:rPr lang="el-GR" dirty="0" smtClean="0"/>
              <a:t>λύω</a:t>
            </a:r>
            <a:r>
              <a:rPr lang="el-GR" dirty="0"/>
              <a:t>, λύσω, ἔλυσα, λέλυκα, λέλυμαι, </a:t>
            </a:r>
            <a:r>
              <a:rPr lang="el-GR" b="1" dirty="0"/>
              <a:t>ἐ</a:t>
            </a:r>
            <a:r>
              <a:rPr lang="el-GR" b="1" dirty="0" smtClean="0"/>
              <a:t>λύθην</a:t>
            </a:r>
            <a:endParaRPr lang="en-US" b="1" dirty="0" smtClean="0"/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sg </a:t>
            </a:r>
            <a:r>
              <a:rPr lang="en-US" dirty="0" err="1" smtClean="0"/>
              <a:t>aor</a:t>
            </a:r>
            <a:r>
              <a:rPr lang="en-US" dirty="0" smtClean="0"/>
              <a:t> </a:t>
            </a:r>
            <a:r>
              <a:rPr lang="en-US" dirty="0" err="1" smtClean="0"/>
              <a:t>ind</a:t>
            </a:r>
            <a:r>
              <a:rPr lang="en-US" dirty="0" smtClean="0"/>
              <a:t> pass</a:t>
            </a:r>
            <a:endParaRPr lang="en-US" dirty="0"/>
          </a:p>
          <a:p>
            <a:r>
              <a:rPr lang="en-US" b="1" u="sng" dirty="0"/>
              <a:t>Sign of the aorist passive = theta</a:t>
            </a:r>
          </a:p>
          <a:p>
            <a:r>
              <a:rPr lang="en-US" dirty="0" smtClean="0"/>
              <a:t>No augment for participles</a:t>
            </a:r>
          </a:p>
          <a:p>
            <a:r>
              <a:rPr lang="en-US" dirty="0" smtClean="0"/>
              <a:t>Add </a:t>
            </a:r>
            <a:r>
              <a:rPr lang="el-GR" dirty="0" smtClean="0"/>
              <a:t>-εντ</a:t>
            </a:r>
            <a:r>
              <a:rPr lang="en-US" dirty="0" smtClean="0"/>
              <a:t>-</a:t>
            </a:r>
            <a:r>
              <a:rPr lang="el-GR" dirty="0" smtClean="0"/>
              <a:t>, -εισα, -εντ-</a:t>
            </a:r>
            <a:r>
              <a:rPr lang="en-US" dirty="0" smtClean="0"/>
              <a:t> [M, F, N]</a:t>
            </a:r>
          </a:p>
          <a:p>
            <a:r>
              <a:rPr lang="en-US" dirty="0" err="1" smtClean="0"/>
              <a:t>Aor</a:t>
            </a:r>
            <a:r>
              <a:rPr lang="en-US" dirty="0" smtClean="0"/>
              <a:t> Pass part = </a:t>
            </a:r>
            <a:endParaRPr lang="el-GR" dirty="0" smtClean="0"/>
          </a:p>
          <a:p>
            <a:pPr lvl="1"/>
            <a:r>
              <a:rPr lang="en-US" dirty="0" smtClean="0"/>
              <a:t>NOM: </a:t>
            </a:r>
            <a:r>
              <a:rPr lang="el-GR" dirty="0" smtClean="0"/>
              <a:t>λυ</a:t>
            </a:r>
            <a:r>
              <a:rPr lang="el-GR" dirty="0" smtClean="0">
                <a:solidFill>
                  <a:srgbClr val="FF0000"/>
                </a:solidFill>
              </a:rPr>
              <a:t>θ</a:t>
            </a:r>
            <a:r>
              <a:rPr lang="el-GR" dirty="0" smtClean="0"/>
              <a:t>είς, λυθεῖσα, λυ</a:t>
            </a:r>
            <a:r>
              <a:rPr lang="el-GR" dirty="0" smtClean="0">
                <a:solidFill>
                  <a:srgbClr val="FF0000"/>
                </a:solidFill>
              </a:rPr>
              <a:t>θ</a:t>
            </a:r>
            <a:r>
              <a:rPr lang="el-GR" dirty="0" smtClean="0"/>
              <a:t>έν</a:t>
            </a:r>
          </a:p>
          <a:p>
            <a:pPr lvl="1"/>
            <a:r>
              <a:rPr lang="en-US" dirty="0" smtClean="0"/>
              <a:t>GEN: </a:t>
            </a:r>
            <a:r>
              <a:rPr lang="el-GR" dirty="0" smtClean="0"/>
              <a:t>λυ</a:t>
            </a:r>
            <a:r>
              <a:rPr lang="el-GR" dirty="0" smtClean="0">
                <a:solidFill>
                  <a:srgbClr val="FF0000"/>
                </a:solidFill>
              </a:rPr>
              <a:t>θέντ</a:t>
            </a:r>
            <a:r>
              <a:rPr lang="el-GR" dirty="0" smtClean="0"/>
              <a:t>ος</a:t>
            </a:r>
            <a:r>
              <a:rPr lang="el-GR" dirty="0"/>
              <a:t>, </a:t>
            </a:r>
            <a:r>
              <a:rPr lang="el-GR" dirty="0" smtClean="0"/>
              <a:t>λυ</a:t>
            </a:r>
            <a:r>
              <a:rPr lang="el-GR" dirty="0" smtClean="0">
                <a:solidFill>
                  <a:srgbClr val="FF0000"/>
                </a:solidFill>
              </a:rPr>
              <a:t>θείσ</a:t>
            </a:r>
            <a:r>
              <a:rPr lang="el-GR" dirty="0" smtClean="0"/>
              <a:t>ης</a:t>
            </a:r>
            <a:r>
              <a:rPr lang="en-US" dirty="0" smtClean="0"/>
              <a:t>, </a:t>
            </a:r>
            <a:r>
              <a:rPr lang="el-GR" dirty="0" smtClean="0"/>
              <a:t>λυ</a:t>
            </a:r>
            <a:r>
              <a:rPr lang="el-GR" dirty="0" smtClean="0">
                <a:solidFill>
                  <a:srgbClr val="FF0000"/>
                </a:solidFill>
              </a:rPr>
              <a:t>θέντ</a:t>
            </a:r>
            <a:r>
              <a:rPr lang="el-GR" dirty="0" smtClean="0"/>
              <a:t>ος</a:t>
            </a:r>
            <a:endParaRPr lang="en-US" dirty="0" smtClean="0"/>
          </a:p>
          <a:p>
            <a:pPr lvl="1"/>
            <a:r>
              <a:rPr lang="en-US" i="1" dirty="0" smtClean="0"/>
              <a:t>Et cetera</a:t>
            </a:r>
          </a:p>
        </p:txBody>
      </p:sp>
    </p:spTree>
    <p:extLst>
      <p:ext uri="{BB962C8B-B14F-4D97-AF65-F5344CB8AC3E}">
        <p14:creationId xmlns:p14="http://schemas.microsoft.com/office/powerpoint/2010/main" val="263862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58265"/>
            <a:ext cx="10352084" cy="589217"/>
          </a:xfrm>
        </p:spPr>
        <p:txBody>
          <a:bodyPr>
            <a:normAutofit/>
          </a:bodyPr>
          <a:lstStyle/>
          <a:p>
            <a:r>
              <a:rPr lang="en-US" dirty="0" smtClean="0"/>
              <a:t>Perfect Participles [rare]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398494"/>
            <a:ext cx="10352084" cy="4910867"/>
          </a:xfrm>
        </p:spPr>
        <p:txBody>
          <a:bodyPr>
            <a:normAutofit/>
          </a:bodyPr>
          <a:lstStyle/>
          <a:p>
            <a:r>
              <a:rPr lang="en-US" dirty="0"/>
              <a:t>PP = </a:t>
            </a:r>
            <a:r>
              <a:rPr lang="el-GR" dirty="0"/>
              <a:t>λύω, </a:t>
            </a:r>
            <a:r>
              <a:rPr lang="el-GR" b="1" dirty="0"/>
              <a:t>λύσω</a:t>
            </a:r>
            <a:r>
              <a:rPr lang="el-GR" dirty="0"/>
              <a:t>, ἔλυσα, </a:t>
            </a:r>
            <a:r>
              <a:rPr lang="el-GR" b="1" dirty="0"/>
              <a:t>λέλυκα, λέλυμαι</a:t>
            </a:r>
            <a:r>
              <a:rPr lang="el-GR" dirty="0"/>
              <a:t>, ἐ</a:t>
            </a:r>
            <a:r>
              <a:rPr lang="el-GR" dirty="0" smtClean="0"/>
              <a:t>λύθην</a:t>
            </a:r>
            <a:endParaRPr lang="en-US" dirty="0" smtClean="0"/>
          </a:p>
          <a:p>
            <a:pPr lvl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PP = 1</a:t>
            </a:r>
            <a:r>
              <a:rPr lang="en-US" baseline="30000" dirty="0" smtClean="0"/>
              <a:t>st</a:t>
            </a:r>
            <a:r>
              <a:rPr lang="en-US" dirty="0" smtClean="0"/>
              <a:t> sg </a:t>
            </a:r>
            <a:r>
              <a:rPr lang="en-US" dirty="0" err="1" smtClean="0"/>
              <a:t>fut</a:t>
            </a:r>
            <a:r>
              <a:rPr lang="en-US" dirty="0" smtClean="0"/>
              <a:t> </a:t>
            </a:r>
            <a:r>
              <a:rPr lang="en-US" dirty="0" err="1" smtClean="0"/>
              <a:t>ind</a:t>
            </a:r>
            <a:r>
              <a:rPr lang="en-US" dirty="0" smtClean="0"/>
              <a:t> act</a:t>
            </a:r>
          </a:p>
          <a:p>
            <a:pPr lvl="1"/>
            <a:r>
              <a:rPr lang="en-US" dirty="0" smtClean="0"/>
              <a:t>4</a:t>
            </a:r>
            <a:r>
              <a:rPr lang="en-US" baseline="30000" dirty="0" smtClean="0"/>
              <a:t>th</a:t>
            </a:r>
            <a:r>
              <a:rPr lang="en-US" dirty="0" smtClean="0"/>
              <a:t> PP = 1</a:t>
            </a:r>
            <a:r>
              <a:rPr lang="en-US" baseline="30000" dirty="0" smtClean="0"/>
              <a:t>st</a:t>
            </a:r>
            <a:r>
              <a:rPr lang="en-US" dirty="0" smtClean="0"/>
              <a:t> sg </a:t>
            </a:r>
            <a:r>
              <a:rPr lang="en-US" dirty="0"/>
              <a:t>pf </a:t>
            </a:r>
            <a:r>
              <a:rPr lang="en-US" dirty="0" err="1"/>
              <a:t>ind</a:t>
            </a:r>
            <a:r>
              <a:rPr lang="en-US" dirty="0"/>
              <a:t> </a:t>
            </a:r>
            <a:r>
              <a:rPr lang="en-US" dirty="0" smtClean="0"/>
              <a:t>act</a:t>
            </a:r>
          </a:p>
          <a:p>
            <a:pPr lvl="1"/>
            <a:r>
              <a:rPr lang="en-US" dirty="0" smtClean="0"/>
              <a:t>5</a:t>
            </a:r>
            <a:r>
              <a:rPr lang="en-US" baseline="30000" dirty="0" smtClean="0"/>
              <a:t>th</a:t>
            </a:r>
            <a:r>
              <a:rPr lang="en-US" dirty="0" smtClean="0"/>
              <a:t> PP = 1</a:t>
            </a:r>
            <a:r>
              <a:rPr lang="en-US" baseline="30000" dirty="0" smtClean="0"/>
              <a:t>st</a:t>
            </a:r>
            <a:r>
              <a:rPr lang="en-US" dirty="0" smtClean="0"/>
              <a:t> sg pf </a:t>
            </a:r>
            <a:r>
              <a:rPr lang="en-US" dirty="0" err="1" smtClean="0"/>
              <a:t>ind</a:t>
            </a:r>
            <a:r>
              <a:rPr lang="en-US" dirty="0" smtClean="0"/>
              <a:t> </a:t>
            </a:r>
            <a:r>
              <a:rPr lang="en-US" b="1" dirty="0" smtClean="0"/>
              <a:t>M/P</a:t>
            </a:r>
            <a:endParaRPr lang="en-US" b="1" dirty="0"/>
          </a:p>
          <a:p>
            <a:r>
              <a:rPr lang="en-US" dirty="0" smtClean="0"/>
              <a:t>Future looks like present but with a </a:t>
            </a:r>
            <a:r>
              <a:rPr lang="en-US" dirty="0" smtClean="0">
                <a:solidFill>
                  <a:srgbClr val="FF0000"/>
                </a:solidFill>
              </a:rPr>
              <a:t>–</a:t>
            </a:r>
            <a:r>
              <a:rPr lang="el-GR" dirty="0" smtClean="0">
                <a:solidFill>
                  <a:srgbClr val="FF0000"/>
                </a:solidFill>
              </a:rPr>
              <a:t>σ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en-US" dirty="0" smtClean="0"/>
              <a:t>added before the ending</a:t>
            </a:r>
          </a:p>
          <a:p>
            <a:r>
              <a:rPr lang="en-US" dirty="0" smtClean="0"/>
              <a:t>Perfect Active [reduplication + kappa from 4</a:t>
            </a:r>
            <a:r>
              <a:rPr lang="en-US" baseline="30000" dirty="0" smtClean="0"/>
              <a:t>th</a:t>
            </a:r>
            <a:r>
              <a:rPr lang="en-US" dirty="0" smtClean="0"/>
              <a:t> PP]</a:t>
            </a:r>
          </a:p>
          <a:p>
            <a:pPr lvl="1"/>
            <a:r>
              <a:rPr lang="el-GR" dirty="0" smtClean="0">
                <a:solidFill>
                  <a:srgbClr val="FF0000"/>
                </a:solidFill>
              </a:rPr>
              <a:t>λε</a:t>
            </a:r>
            <a:r>
              <a:rPr lang="el-GR" dirty="0" smtClean="0"/>
              <a:t>λυ</a:t>
            </a:r>
            <a:r>
              <a:rPr lang="el-GR" dirty="0" smtClean="0">
                <a:solidFill>
                  <a:srgbClr val="FF0000"/>
                </a:solidFill>
              </a:rPr>
              <a:t>κ</a:t>
            </a:r>
            <a:r>
              <a:rPr lang="el-GR" dirty="0" smtClean="0"/>
              <a:t>ώς, </a:t>
            </a:r>
            <a:r>
              <a:rPr lang="el-GR" dirty="0" smtClean="0">
                <a:solidFill>
                  <a:srgbClr val="FF0000"/>
                </a:solidFill>
              </a:rPr>
              <a:t>λε</a:t>
            </a:r>
            <a:r>
              <a:rPr lang="el-GR" dirty="0" smtClean="0"/>
              <a:t>λυ</a:t>
            </a:r>
            <a:r>
              <a:rPr lang="el-GR" dirty="0" smtClean="0">
                <a:solidFill>
                  <a:srgbClr val="FF0000"/>
                </a:solidFill>
              </a:rPr>
              <a:t>κ</a:t>
            </a:r>
            <a:r>
              <a:rPr lang="el-GR" dirty="0" smtClean="0"/>
              <a:t>υῖα, </a:t>
            </a:r>
            <a:r>
              <a:rPr lang="el-GR" dirty="0" smtClean="0">
                <a:solidFill>
                  <a:srgbClr val="FF0000"/>
                </a:solidFill>
              </a:rPr>
              <a:t>λε</a:t>
            </a:r>
            <a:r>
              <a:rPr lang="el-GR" dirty="0" smtClean="0"/>
              <a:t>λυ</a:t>
            </a:r>
            <a:r>
              <a:rPr lang="el-GR" dirty="0" smtClean="0">
                <a:solidFill>
                  <a:srgbClr val="FF0000"/>
                </a:solidFill>
              </a:rPr>
              <a:t>κ</a:t>
            </a:r>
            <a:r>
              <a:rPr lang="el-GR" dirty="0" smtClean="0"/>
              <a:t>ός </a:t>
            </a:r>
            <a:endParaRPr lang="en-US" dirty="0"/>
          </a:p>
          <a:p>
            <a:pPr lvl="2"/>
            <a:r>
              <a:rPr lang="en-US" dirty="0" smtClean="0"/>
              <a:t>Masc gen sg =  </a:t>
            </a:r>
            <a:r>
              <a:rPr lang="el-GR" dirty="0" smtClean="0"/>
              <a:t>λελυ</a:t>
            </a:r>
            <a:r>
              <a:rPr lang="el-GR" dirty="0" smtClean="0">
                <a:solidFill>
                  <a:srgbClr val="FF0000"/>
                </a:solidFill>
              </a:rPr>
              <a:t>κότος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/>
              <a:t>Perfect </a:t>
            </a:r>
            <a:r>
              <a:rPr lang="en-US" dirty="0" smtClean="0"/>
              <a:t>M/P  [reduplication and regular endings from 5</a:t>
            </a:r>
            <a:r>
              <a:rPr lang="en-US" baseline="30000" dirty="0" smtClean="0"/>
              <a:t>th</a:t>
            </a:r>
            <a:r>
              <a:rPr lang="en-US" dirty="0" smtClean="0"/>
              <a:t> PP]</a:t>
            </a:r>
          </a:p>
          <a:p>
            <a:pPr lvl="1"/>
            <a:r>
              <a:rPr lang="el-GR" dirty="0" smtClean="0">
                <a:solidFill>
                  <a:srgbClr val="FF0000"/>
                </a:solidFill>
              </a:rPr>
              <a:t>λε</a:t>
            </a:r>
            <a:r>
              <a:rPr lang="el-GR" dirty="0" smtClean="0"/>
              <a:t>λυμένος, -η, -ον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USES OF Greek Participles</a:t>
            </a:r>
            <a:r>
              <a:rPr lang="en-US" dirty="0"/>
              <a:t/>
            </a:r>
            <a:br>
              <a:rPr lang="en-US" dirty="0"/>
            </a:br>
            <a:endParaRPr lang="en-US" sz="2800" i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3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Greek Attributive/Substantive Participle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800" dirty="0" smtClean="0"/>
              <a:t>Used </a:t>
            </a:r>
            <a:r>
              <a:rPr lang="en-US" sz="2800" dirty="0"/>
              <a:t>as a noun </a:t>
            </a:r>
            <a:r>
              <a:rPr lang="en-US" sz="2800" dirty="0" smtClean="0"/>
              <a:t>phrase</a:t>
            </a:r>
            <a:r>
              <a:rPr lang="en-US" sz="2800" dirty="0"/>
              <a:t>, </a:t>
            </a:r>
            <a:r>
              <a:rPr lang="en-US" sz="2800" dirty="0" smtClean="0"/>
              <a:t>often </a:t>
            </a:r>
            <a:r>
              <a:rPr lang="en-US" sz="2800" dirty="0"/>
              <a:t>with an article</a:t>
            </a:r>
          </a:p>
          <a:p>
            <a:pPr lvl="1"/>
            <a:r>
              <a:rPr lang="en-US" sz="2800" u="sng" dirty="0"/>
              <a:t>Walking</a:t>
            </a:r>
            <a:r>
              <a:rPr lang="en-US" sz="2800" dirty="0"/>
              <a:t> is good exercise. </a:t>
            </a:r>
            <a:r>
              <a:rPr lang="en-US" sz="2800" dirty="0" smtClean="0"/>
              <a:t>[SBJ]</a:t>
            </a:r>
          </a:p>
          <a:p>
            <a:pPr marL="914400" lvl="1" indent="0">
              <a:buNone/>
            </a:pPr>
            <a:endParaRPr lang="en-US" sz="2800" dirty="0" smtClean="0"/>
          </a:p>
          <a:p>
            <a:pPr lvl="1"/>
            <a:endParaRPr lang="en-US" sz="2800" dirty="0"/>
          </a:p>
          <a:p>
            <a:pPr marL="914400" lvl="1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59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l-GR" sz="3200" b="1" u="sng" dirty="0"/>
              <a:t>οἱ</a:t>
            </a:r>
            <a:r>
              <a:rPr lang="el-GR" sz="3200" u="sng" dirty="0"/>
              <a:t> δὲ μετʼ αὐτοῦ </a:t>
            </a:r>
            <a:r>
              <a:rPr lang="el-GR" sz="3200" b="1" u="sng" dirty="0"/>
              <a:t>ὄντες</a:t>
            </a:r>
            <a:r>
              <a:rPr lang="el-GR" sz="3200" u="sng" dirty="0"/>
              <a:t> </a:t>
            </a:r>
            <a:r>
              <a:rPr lang="el-GR" sz="3200" dirty="0"/>
              <a:t>ἔφυγον. [</a:t>
            </a:r>
            <a:r>
              <a:rPr lang="el-GR" sz="3200" dirty="0" smtClean="0"/>
              <a:t>1.1.18]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024127" y="1819835"/>
            <a:ext cx="5233238" cy="4489525"/>
          </a:xfrm>
        </p:spPr>
        <p:txBody>
          <a:bodyPr/>
          <a:lstStyle/>
          <a:p>
            <a:r>
              <a:rPr lang="en-US" i="1" dirty="0"/>
              <a:t>The ones who were with him fled.</a:t>
            </a:r>
          </a:p>
          <a:p>
            <a:r>
              <a:rPr lang="en-US" dirty="0" smtClean="0"/>
              <a:t>Articular participle acting as the SBJ.</a:t>
            </a:r>
          </a:p>
          <a:p>
            <a:r>
              <a:rPr lang="en-US" dirty="0" smtClean="0"/>
              <a:t>It governs the PNOM, </a:t>
            </a:r>
            <a:r>
              <a:rPr lang="el-GR" u="sng" dirty="0"/>
              <a:t>μετʼ αὐτοῦ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20755" y="1389529"/>
            <a:ext cx="3227981" cy="46032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49552" y="3039035"/>
            <a:ext cx="806823" cy="905436"/>
          </a:xfrm>
          <a:prstGeom prst="roundRect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1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l-GR" sz="3200" dirty="0"/>
              <a:t>Φαρνάβαζος δὲ καὶ οἱ πρέσβεις τῆς Φρυγίας </a:t>
            </a:r>
            <a:r>
              <a:rPr lang="el-GR" sz="3200" b="1" u="sng" dirty="0" smtClean="0"/>
              <a:t>τὰ</a:t>
            </a:r>
            <a:r>
              <a:rPr lang="el-GR" sz="3200" u="sng" dirty="0" smtClean="0"/>
              <a:t> </a:t>
            </a:r>
            <a:r>
              <a:rPr lang="el-GR" sz="3200" u="sng" dirty="0"/>
              <a:t>περὶ τὸ Βυζάντιον </a:t>
            </a:r>
            <a:r>
              <a:rPr lang="el-GR" sz="3200" b="1" u="sng" dirty="0"/>
              <a:t>πεπραγμένα</a:t>
            </a:r>
            <a:r>
              <a:rPr lang="el-GR" sz="3200" dirty="0"/>
              <a:t> ἤκουσαν</a:t>
            </a:r>
            <a:r>
              <a:rPr lang="en-US" sz="3200" dirty="0"/>
              <a:t>. [</a:t>
            </a:r>
            <a:r>
              <a:rPr lang="en-US" sz="3200" dirty="0" smtClean="0"/>
              <a:t>1.4.1]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Pharnabazos and the messengers from Phrygia heard about the deeds around Byzantion. </a:t>
            </a:r>
          </a:p>
          <a:p>
            <a:r>
              <a:rPr lang="el-GR" dirty="0" smtClean="0"/>
              <a:t>τὰ πεπραγμένα</a:t>
            </a:r>
            <a:r>
              <a:rPr lang="en-US" dirty="0" smtClean="0"/>
              <a:t> = </a:t>
            </a:r>
            <a:r>
              <a:rPr lang="en-US" i="1" dirty="0" smtClean="0"/>
              <a:t>the things having been done</a:t>
            </a:r>
            <a:endParaRPr lang="en-US" dirty="0" smtClean="0"/>
          </a:p>
          <a:p>
            <a:r>
              <a:rPr lang="el-GR" dirty="0" smtClean="0"/>
              <a:t>περὶ τὸ Βυζάντιον</a:t>
            </a:r>
            <a:r>
              <a:rPr lang="en-US" dirty="0" smtClean="0"/>
              <a:t> could be labeled as ADV or ATR.</a:t>
            </a:r>
          </a:p>
          <a:p>
            <a:pPr lvl="1"/>
            <a:r>
              <a:rPr lang="en-US" dirty="0" smtClean="0"/>
              <a:t>Because it modifies the doing rather than the things, I have opted for ADV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42025" y="1957135"/>
            <a:ext cx="5262563" cy="42137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269505" y="3092824"/>
            <a:ext cx="1479177" cy="806824"/>
          </a:xfrm>
          <a:prstGeom prst="roundRect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3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Greek Supplementary Participle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482291"/>
            <a:ext cx="10352084" cy="482707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Use the participle to complete the meaning of a verb</a:t>
            </a:r>
          </a:p>
          <a:p>
            <a:pPr lvl="1"/>
            <a:r>
              <a:rPr lang="en-US" dirty="0" smtClean="0"/>
              <a:t>Necessary argument with some verbs [often OBJ or PNOM]</a:t>
            </a:r>
          </a:p>
          <a:p>
            <a:pPr lvl="1"/>
            <a:r>
              <a:rPr lang="en-US" dirty="0" smtClean="0"/>
              <a:t>Similar to a complementary infinitive</a:t>
            </a:r>
          </a:p>
          <a:p>
            <a:r>
              <a:rPr lang="en-US" i="1" dirty="0" smtClean="0"/>
              <a:t>He </a:t>
            </a:r>
            <a:r>
              <a:rPr lang="en-US" i="1" dirty="0"/>
              <a:t>will prove to be </a:t>
            </a:r>
            <a:r>
              <a:rPr lang="en-US" i="1" u="sng" dirty="0"/>
              <a:t>doing</a:t>
            </a:r>
            <a:r>
              <a:rPr lang="en-US" i="1" dirty="0"/>
              <a:t> nothing </a:t>
            </a:r>
            <a:r>
              <a:rPr lang="en-US" i="1" dirty="0" smtClean="0"/>
              <a:t>wrong. </a:t>
            </a:r>
            <a:r>
              <a:rPr lang="en-US" dirty="0" smtClean="0"/>
              <a:t>[PNOM]</a:t>
            </a:r>
            <a:endParaRPr lang="en-US" dirty="0"/>
          </a:p>
          <a:p>
            <a:pPr lvl="1"/>
            <a:r>
              <a:rPr lang="en-US" dirty="0" smtClean="0"/>
              <a:t>The participle modifies the SBJ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an OBJ [</a:t>
            </a:r>
            <a:r>
              <a:rPr lang="en-US" i="1" dirty="0"/>
              <a:t>nothing</a:t>
            </a:r>
            <a:r>
              <a:rPr lang="en-US" dirty="0"/>
              <a:t>]</a:t>
            </a:r>
          </a:p>
          <a:p>
            <a:r>
              <a:rPr lang="en-US" dirty="0" smtClean="0"/>
              <a:t>Common verbs taking a supplementary participle</a:t>
            </a:r>
          </a:p>
          <a:p>
            <a:pPr lvl="1"/>
            <a:r>
              <a:rPr lang="en-US" u="sng" dirty="0" smtClean="0"/>
              <a:t>Sensory perception</a:t>
            </a:r>
            <a:r>
              <a:rPr lang="en-US" dirty="0" smtClean="0"/>
              <a:t>: </a:t>
            </a:r>
            <a:r>
              <a:rPr lang="el-GR" dirty="0" smtClean="0"/>
              <a:t>αἰσθάνομαι, ἀκούω, ὁράω, πυνθάνομαι</a:t>
            </a:r>
            <a:endParaRPr lang="en-US" dirty="0" smtClean="0"/>
          </a:p>
          <a:p>
            <a:pPr lvl="1"/>
            <a:r>
              <a:rPr lang="en-US" dirty="0" smtClean="0"/>
              <a:t>Verbs of </a:t>
            </a:r>
            <a:r>
              <a:rPr lang="en-US" u="sng" dirty="0" smtClean="0"/>
              <a:t>knowing and showing</a:t>
            </a:r>
            <a:r>
              <a:rPr lang="en-US" dirty="0" smtClean="0"/>
              <a:t>: </a:t>
            </a:r>
            <a:r>
              <a:rPr lang="el-GR" dirty="0"/>
              <a:t>οἶδα, </a:t>
            </a:r>
            <a:r>
              <a:rPr lang="el-GR" dirty="0" smtClean="0"/>
              <a:t>οἴομαι, γιγνώσκω, μανθάνω, δηλόω, φαίνω</a:t>
            </a:r>
            <a:endParaRPr lang="en-US" dirty="0"/>
          </a:p>
          <a:p>
            <a:pPr lvl="1"/>
            <a:r>
              <a:rPr lang="en-US" dirty="0"/>
              <a:t>Verbs of </a:t>
            </a:r>
            <a:r>
              <a:rPr lang="en-US" u="sng" dirty="0"/>
              <a:t>being</a:t>
            </a:r>
            <a:r>
              <a:rPr lang="en-US" dirty="0"/>
              <a:t>: </a:t>
            </a:r>
            <a:r>
              <a:rPr lang="el-GR" dirty="0"/>
              <a:t>τυγχάνω, ἄρχομαι</a:t>
            </a:r>
            <a:r>
              <a:rPr lang="en-US" dirty="0"/>
              <a:t> (begin), </a:t>
            </a:r>
            <a:r>
              <a:rPr lang="el-GR" dirty="0"/>
              <a:t>παύω</a:t>
            </a:r>
            <a:r>
              <a:rPr lang="en-US" dirty="0"/>
              <a:t> (stop), </a:t>
            </a:r>
            <a:r>
              <a:rPr lang="el-GR" dirty="0"/>
              <a:t>ἀνέχομαι</a:t>
            </a:r>
            <a:r>
              <a:rPr lang="en-US" dirty="0"/>
              <a:t> (endure), </a:t>
            </a:r>
            <a:r>
              <a:rPr lang="el-GR" dirty="0"/>
              <a:t>ἔχω</a:t>
            </a:r>
            <a:r>
              <a:rPr lang="en-US" dirty="0"/>
              <a:t> (almost “am” or “have been</a:t>
            </a:r>
            <a:r>
              <a:rPr lang="en-US" dirty="0" smtClean="0"/>
              <a:t>”) </a:t>
            </a:r>
          </a:p>
          <a:p>
            <a:pPr lvl="2"/>
            <a:r>
              <a:rPr lang="en-US" b="1" dirty="0" smtClean="0"/>
              <a:t>+ nom participle (matching the subject) [PNOM]</a:t>
            </a:r>
            <a:endParaRPr lang="en-US" b="1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95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l-GR" sz="3200" dirty="0"/>
              <a:t>Ἀλκιβιάδης δὲ τοῖς ὅρκοις </a:t>
            </a:r>
            <a:r>
              <a:rPr lang="el-GR" sz="3200" u="sng" dirty="0"/>
              <a:t>οὐκ ἐτύγχανε </a:t>
            </a:r>
            <a:r>
              <a:rPr lang="el-GR" sz="3200" b="1" u="sng" dirty="0"/>
              <a:t>παρών</a:t>
            </a:r>
            <a:r>
              <a:rPr lang="el-GR" sz="3200" dirty="0"/>
              <a:t>, ἀλλὰ περὶ Σηλυμβρίαν ἦν· </a:t>
            </a:r>
            <a:r>
              <a:rPr lang="en-US" sz="3200" dirty="0" smtClean="0"/>
              <a:t>[1.3.10]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Alkibiades was not present for the oaths, but [rather] was near </a:t>
            </a:r>
            <a:r>
              <a:rPr lang="en-US" i="1" dirty="0" err="1"/>
              <a:t>Selymbria</a:t>
            </a:r>
            <a:r>
              <a:rPr lang="en-US" dirty="0"/>
              <a:t>. </a:t>
            </a:r>
            <a:endParaRPr lang="en-US" i="1" dirty="0"/>
          </a:p>
          <a:p>
            <a:r>
              <a:rPr lang="en-US" dirty="0" smtClean="0"/>
              <a:t>Participle after a verb representing a state of being.</a:t>
            </a:r>
          </a:p>
          <a:p>
            <a:pPr marL="365760" lvl="1" indent="0">
              <a:buNone/>
            </a:pPr>
            <a:r>
              <a:rPr lang="en-US" dirty="0" smtClean="0"/>
              <a:t>PNOM</a:t>
            </a:r>
          </a:p>
          <a:p>
            <a:pPr marL="365760" lvl="1" indent="0">
              <a:buNone/>
            </a:pPr>
            <a:r>
              <a:rPr lang="en-US" i="1" dirty="0" smtClean="0"/>
              <a:t>Happened to be present</a:t>
            </a:r>
          </a:p>
          <a:p>
            <a:r>
              <a:rPr lang="en-US" dirty="0" smtClean="0"/>
              <a:t>Participle matches the SBJ in gender, number, and case</a:t>
            </a:r>
          </a:p>
          <a:p>
            <a:pPr lvl="1"/>
            <a:r>
              <a:rPr lang="en-US" dirty="0" smtClean="0"/>
              <a:t>Nom sg masc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42025" y="1890902"/>
            <a:ext cx="5262563" cy="434619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839200" y="3881718"/>
            <a:ext cx="762000" cy="824753"/>
          </a:xfrm>
          <a:prstGeom prst="roundRect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4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Greek Circumstantial</a:t>
            </a:r>
            <a:r>
              <a:rPr lang="en-US" dirty="0" smtClean="0"/>
              <a:t> Participle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Optional information</a:t>
            </a:r>
          </a:p>
          <a:p>
            <a:pPr lvl="1"/>
            <a:r>
              <a:rPr lang="en-US" dirty="0" smtClean="0"/>
              <a:t>Expresses circumstance, cause, condition, motivation, purpose, etc.</a:t>
            </a:r>
          </a:p>
          <a:p>
            <a:pPr lvl="1"/>
            <a:r>
              <a:rPr lang="en-US" dirty="0" smtClean="0"/>
              <a:t>Either </a:t>
            </a:r>
            <a:r>
              <a:rPr lang="en-US" u="sng" dirty="0" smtClean="0"/>
              <a:t>modifies</a:t>
            </a:r>
            <a:r>
              <a:rPr lang="en-US" dirty="0" smtClean="0"/>
              <a:t> an element of the clause or stands </a:t>
            </a:r>
            <a:r>
              <a:rPr lang="en-US" u="sng" dirty="0" smtClean="0"/>
              <a:t>absolutely</a:t>
            </a:r>
            <a:r>
              <a:rPr lang="en-US" dirty="0" smtClean="0"/>
              <a:t>, disconnected from the syntax of the clause.</a:t>
            </a:r>
          </a:p>
          <a:p>
            <a:r>
              <a:rPr lang="en-US" dirty="0"/>
              <a:t>I drank </a:t>
            </a:r>
            <a:r>
              <a:rPr lang="en-US" u="sng" dirty="0"/>
              <a:t>bottled</a:t>
            </a:r>
            <a:r>
              <a:rPr lang="en-US" dirty="0"/>
              <a:t> water. </a:t>
            </a:r>
            <a:r>
              <a:rPr lang="en-US" dirty="0" smtClean="0"/>
              <a:t>[ATR = condition]</a:t>
            </a:r>
            <a:endParaRPr lang="en-US" dirty="0"/>
          </a:p>
          <a:p>
            <a:r>
              <a:rPr lang="en-US" dirty="0" smtClean="0"/>
              <a:t>The men, </a:t>
            </a:r>
            <a:r>
              <a:rPr lang="en-US" u="sng" dirty="0" smtClean="0"/>
              <a:t>being</a:t>
            </a:r>
            <a:r>
              <a:rPr lang="en-US" dirty="0" smtClean="0"/>
              <a:t> afraid, fled the battlefield [ADV = cause]</a:t>
            </a:r>
          </a:p>
          <a:p>
            <a:r>
              <a:rPr lang="en-US" dirty="0" smtClean="0"/>
              <a:t>All </a:t>
            </a:r>
            <a:r>
              <a:rPr lang="en-US" dirty="0"/>
              <a:t>things </a:t>
            </a:r>
            <a:r>
              <a:rPr lang="en-US" u="sng" dirty="0"/>
              <a:t>being</a:t>
            </a:r>
            <a:r>
              <a:rPr lang="en-US" dirty="0"/>
              <a:t> equal, I would prefer to go home now. </a:t>
            </a:r>
          </a:p>
          <a:p>
            <a:pPr lvl="1"/>
            <a:r>
              <a:rPr lang="en-US" dirty="0"/>
              <a:t>Absolute construction = ADV</a:t>
            </a:r>
          </a:p>
          <a:p>
            <a:pPr lvl="1"/>
            <a:r>
              <a:rPr lang="en-US" dirty="0"/>
              <a:t>Requires a SBJ [things] and a PNOM [equal]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23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l-GR" sz="3200" dirty="0"/>
              <a:t>μετὰ δὲ ταῦτα οὐ πολλαῖς ἡμέραις ὕστερον ἦλθεν ἐξ Ἀθηνῶν Θυμοχάρης </a:t>
            </a:r>
            <a:r>
              <a:rPr lang="el-GR" sz="3200" b="1" u="sng" dirty="0"/>
              <a:t>ἔχων</a:t>
            </a:r>
            <a:r>
              <a:rPr lang="el-GR" sz="3200" u="sng" dirty="0"/>
              <a:t> ναῦς ὀλίγας</a:t>
            </a:r>
            <a:r>
              <a:rPr lang="el-GR" sz="3200" dirty="0"/>
              <a:t>· [1.1.1</a:t>
            </a:r>
            <a:r>
              <a:rPr lang="el-GR" sz="3200" dirty="0" smtClean="0"/>
              <a:t>]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024126" y="1819835"/>
            <a:ext cx="5071873" cy="4489525"/>
          </a:xfrm>
        </p:spPr>
        <p:txBody>
          <a:bodyPr>
            <a:normAutofit/>
          </a:bodyPr>
          <a:lstStyle/>
          <a:p>
            <a:r>
              <a:rPr lang="en-US" i="1" dirty="0"/>
              <a:t>A few days later, after these things, Thymochares came from Athens with a few ships.</a:t>
            </a:r>
          </a:p>
          <a:p>
            <a:r>
              <a:rPr lang="en-US" dirty="0" smtClean="0"/>
              <a:t>Modifies </a:t>
            </a:r>
            <a:r>
              <a:rPr lang="en-US" dirty="0"/>
              <a:t>the SBJ, so masc, nom, </a:t>
            </a:r>
            <a:r>
              <a:rPr lang="en-US" dirty="0" smtClean="0"/>
              <a:t>sg</a:t>
            </a:r>
            <a:endParaRPr lang="el-GR" dirty="0" smtClean="0"/>
          </a:p>
          <a:p>
            <a:pPr lvl="1"/>
            <a:r>
              <a:rPr lang="en-US" dirty="0" smtClean="0"/>
              <a:t>Has </a:t>
            </a:r>
            <a:r>
              <a:rPr lang="el-GR" dirty="0" smtClean="0"/>
              <a:t>ναῦς</a:t>
            </a:r>
            <a:r>
              <a:rPr lang="en-US" dirty="0" smtClean="0"/>
              <a:t> as its OBJ.</a:t>
            </a:r>
            <a:endParaRPr lang="en-US" dirty="0"/>
          </a:p>
          <a:p>
            <a:r>
              <a:rPr lang="en-US" dirty="0" smtClean="0"/>
              <a:t>Literally </a:t>
            </a:r>
            <a:r>
              <a:rPr lang="en-US" i="1" dirty="0" smtClean="0"/>
              <a:t>having a few ships</a:t>
            </a:r>
            <a:r>
              <a:rPr lang="el-GR" i="1" dirty="0" smtClean="0"/>
              <a:t>.</a:t>
            </a:r>
            <a:endParaRPr lang="en-US" dirty="0" smtClean="0"/>
          </a:p>
          <a:p>
            <a:r>
              <a:rPr lang="en-US" dirty="0" smtClean="0"/>
              <a:t>Gives additional information</a:t>
            </a:r>
          </a:p>
          <a:p>
            <a:pPr lvl="1"/>
            <a:r>
              <a:rPr lang="en-US" dirty="0" smtClean="0"/>
              <a:t>Circumstantial participle = ADV</a:t>
            </a:r>
          </a:p>
          <a:p>
            <a:pPr lvl="1"/>
            <a:r>
              <a:rPr lang="en-US" dirty="0" smtClean="0"/>
              <a:t>Translate as seems relevant to the context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91649" y="2319828"/>
            <a:ext cx="5262563" cy="34895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775577" y="3164542"/>
            <a:ext cx="762000" cy="824753"/>
          </a:xfrm>
          <a:prstGeom prst="roundRect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l-GR" sz="2800" dirty="0" smtClean="0"/>
              <a:t>καὶ </a:t>
            </a:r>
            <a:r>
              <a:rPr lang="el-GR" sz="2800" dirty="0"/>
              <a:t>εὐθὺς ἐναυμάχησαν αὖθις Λακεδαιμόνιοι καὶ Ἀθηναῖοι, ἐνίκησαν δὲ Λακεδαιμόνιοι </a:t>
            </a:r>
            <a:r>
              <a:rPr lang="el-GR" sz="2800" b="1" u="sng" dirty="0"/>
              <a:t>ἡγουμένου</a:t>
            </a:r>
            <a:r>
              <a:rPr lang="el-GR" sz="2800" u="sng" dirty="0"/>
              <a:t> Ἀγησανδρίδου</a:t>
            </a:r>
            <a:r>
              <a:rPr lang="el-GR" sz="2800" dirty="0"/>
              <a:t>. [1.1.1]</a:t>
            </a: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024127" y="1819835"/>
            <a:ext cx="4148508" cy="4489525"/>
          </a:xfrm>
        </p:spPr>
        <p:txBody>
          <a:bodyPr/>
          <a:lstStyle/>
          <a:p>
            <a:r>
              <a:rPr lang="en-US" b="1" u="sng" dirty="0" smtClean="0"/>
              <a:t>**Genitive absolute**</a:t>
            </a:r>
          </a:p>
          <a:p>
            <a:pPr lvl="1"/>
            <a:r>
              <a:rPr lang="en-US" dirty="0"/>
              <a:t>Can translate </a:t>
            </a:r>
            <a:r>
              <a:rPr lang="en-US" i="1" dirty="0"/>
              <a:t>when, because, since, after, </a:t>
            </a:r>
            <a:r>
              <a:rPr lang="en-US" dirty="0"/>
              <a:t>etc.</a:t>
            </a:r>
          </a:p>
          <a:p>
            <a:r>
              <a:rPr lang="en-US" i="1" dirty="0" smtClean="0"/>
              <a:t>And immediately the Lakedaimonians and the Athenians fought another sea battle, and the Lakedaimonians won under the leadership of </a:t>
            </a:r>
            <a:r>
              <a:rPr lang="en-US" i="1" dirty="0" err="1" smtClean="0"/>
              <a:t>Agesandridos</a:t>
            </a:r>
            <a:r>
              <a:rPr lang="en-US" i="1" dirty="0" smtClean="0"/>
              <a:t>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79931" y="1755277"/>
            <a:ext cx="6470115" cy="356079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372257" y="3774802"/>
            <a:ext cx="1577789" cy="1434352"/>
          </a:xfrm>
          <a:prstGeom prst="roundRect">
            <a:avLst/>
          </a:prstGeom>
          <a:solidFill>
            <a:srgbClr val="00FFFF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148507" y="4918680"/>
              <a:ext cx="60660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6507" y="4774680"/>
                <a:ext cx="75060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1241507" y="5253120"/>
              <a:ext cx="2147040" cy="673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9507" y="5109120"/>
                <a:ext cx="229104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/>
              <p14:cNvContentPartPr/>
              <p14:nvPr/>
            </p14:nvContentPartPr>
            <p14:xfrm>
              <a:off x="1251227" y="5667120"/>
              <a:ext cx="1761840" cy="248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79227" y="5523120"/>
                <a:ext cx="1905840" cy="31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367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l-GR" sz="2800" dirty="0"/>
              <a:t>μετʼ ὀλίγον δὲ τούτων Δωριεὺς ὁ Διαγόρου ἐκ Ῥόδου εἰς Ἑλλήσποντον εἰσέπλει </a:t>
            </a:r>
            <a:r>
              <a:rPr lang="el-GR" sz="2800" b="1" u="sng" dirty="0"/>
              <a:t>ἀρχομένου</a:t>
            </a:r>
            <a:r>
              <a:rPr lang="el-GR" sz="2800" u="sng" dirty="0"/>
              <a:t> χειμῶνος </a:t>
            </a:r>
            <a:r>
              <a:rPr lang="el-GR" sz="2800" dirty="0"/>
              <a:t>τέτταρσι καὶ δέκα ναυσὶν ἅμα ἡμέρᾳ. [1.1.2</a:t>
            </a:r>
            <a:r>
              <a:rPr lang="el-GR" sz="2800" dirty="0" smtClean="0"/>
              <a:t>] 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895600" y="1532965"/>
            <a:ext cx="7575175" cy="1908733"/>
          </a:xfrm>
        </p:spPr>
        <p:txBody>
          <a:bodyPr>
            <a:normAutofit fontScale="92500"/>
          </a:bodyPr>
          <a:lstStyle/>
          <a:p>
            <a:r>
              <a:rPr lang="en-US" i="1" dirty="0" smtClean="0"/>
              <a:t>A little after these things, </a:t>
            </a:r>
            <a:r>
              <a:rPr lang="en-US" i="1" dirty="0" err="1" smtClean="0"/>
              <a:t>Dorieus</a:t>
            </a:r>
            <a:r>
              <a:rPr lang="en-US" i="1" dirty="0" smtClean="0"/>
              <a:t>, the son of </a:t>
            </a:r>
            <a:r>
              <a:rPr lang="en-US" i="1" dirty="0" err="1" smtClean="0"/>
              <a:t>Diagoras</a:t>
            </a:r>
            <a:r>
              <a:rPr lang="en-US" i="1" dirty="0" smtClean="0"/>
              <a:t>, was sailing with fourteen ships from </a:t>
            </a:r>
            <a:r>
              <a:rPr lang="en-US" i="1" dirty="0"/>
              <a:t>Rhodes </a:t>
            </a:r>
            <a:r>
              <a:rPr lang="en-US" i="1" dirty="0" smtClean="0"/>
              <a:t>into the Hellespont </a:t>
            </a:r>
            <a:r>
              <a:rPr lang="en-US" i="1" dirty="0"/>
              <a:t>at dawn </a:t>
            </a:r>
            <a:r>
              <a:rPr lang="en-US" i="1" dirty="0" smtClean="0"/>
              <a:t>when winter was beginning.</a:t>
            </a:r>
          </a:p>
          <a:p>
            <a:r>
              <a:rPr lang="en-US" dirty="0"/>
              <a:t>Genitive absolute = temporal</a:t>
            </a:r>
          </a:p>
          <a:p>
            <a:endParaRPr lang="en-US" i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5434" b="6339"/>
          <a:stretch/>
        </p:blipFill>
        <p:spPr>
          <a:xfrm>
            <a:off x="2339788" y="3441698"/>
            <a:ext cx="8092107" cy="30039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02070" y="4509246"/>
            <a:ext cx="1048872" cy="1281953"/>
          </a:xfrm>
          <a:prstGeom prst="roundRect">
            <a:avLst/>
          </a:prstGeom>
          <a:solidFill>
            <a:srgbClr val="00FFFF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5611547" y="2419920"/>
              <a:ext cx="3321000" cy="842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9547" y="2275920"/>
                <a:ext cx="3465000" cy="3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436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l-GR" sz="2800" dirty="0"/>
              <a:t>οἱ δὲ Πελοποννήσιοι </a:t>
            </a:r>
            <a:r>
              <a:rPr lang="el-GR" sz="2800" b="1" u="sng" dirty="0"/>
              <a:t>ἰδόντες</a:t>
            </a:r>
            <a:r>
              <a:rPr lang="el-GR" sz="2800" u="sng" dirty="0"/>
              <a:t> τὰς τῶν Ἀθηναίων τριήρεις </a:t>
            </a:r>
            <a:r>
              <a:rPr lang="el-GR" sz="2800" b="1" u="sng" dirty="0"/>
              <a:t>οὔσας</a:t>
            </a:r>
            <a:r>
              <a:rPr lang="el-GR" sz="2800" u="sng" dirty="0"/>
              <a:t> πλείους τε πολλῷ ἢ πρότερον καὶ πρὸς τῷ λιμένι</a:t>
            </a:r>
            <a:r>
              <a:rPr lang="el-GR" sz="2800" dirty="0"/>
              <a:t>, ἔφυγον εἰς τὴν γῆν. </a:t>
            </a:r>
            <a:r>
              <a:rPr lang="en-US" sz="2800" dirty="0"/>
              <a:t>[</a:t>
            </a:r>
            <a:r>
              <a:rPr lang="en-US" sz="2800" dirty="0" smtClean="0"/>
              <a:t>1.1.17]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024126" y="1819835"/>
            <a:ext cx="5573897" cy="4489525"/>
          </a:xfrm>
        </p:spPr>
        <p:txBody>
          <a:bodyPr>
            <a:normAutofit/>
          </a:bodyPr>
          <a:lstStyle/>
          <a:p>
            <a:r>
              <a:rPr lang="en-US" dirty="0" smtClean="0"/>
              <a:t>Main sentences = </a:t>
            </a:r>
            <a:r>
              <a:rPr lang="en-US" i="1" dirty="0" smtClean="0"/>
              <a:t>The Peloponnesians fled to land.</a:t>
            </a:r>
          </a:p>
          <a:p>
            <a:r>
              <a:rPr lang="el-GR" dirty="0" smtClean="0"/>
              <a:t>ἰδόντες</a:t>
            </a:r>
            <a:r>
              <a:rPr lang="en-US" dirty="0" smtClean="0"/>
              <a:t> = circumstantial participle </a:t>
            </a:r>
          </a:p>
          <a:p>
            <a:pPr lvl="1"/>
            <a:r>
              <a:rPr lang="en-US" dirty="0" smtClean="0"/>
              <a:t>From </a:t>
            </a:r>
            <a:r>
              <a:rPr lang="el-GR" dirty="0" smtClean="0"/>
              <a:t>εἶδον</a:t>
            </a:r>
            <a:r>
              <a:rPr lang="en-US" dirty="0" smtClean="0"/>
              <a:t>, a defective verb [</a:t>
            </a:r>
            <a:r>
              <a:rPr lang="en-US" i="1" dirty="0" smtClean="0"/>
              <a:t>see</a:t>
            </a:r>
            <a:r>
              <a:rPr lang="en-US" dirty="0" smtClean="0"/>
              <a:t>]</a:t>
            </a:r>
          </a:p>
          <a:p>
            <a:pPr lvl="1"/>
            <a:r>
              <a:rPr lang="en-US" dirty="0" err="1" smtClean="0"/>
              <a:t>Aor</a:t>
            </a:r>
            <a:r>
              <a:rPr lang="en-US" dirty="0" smtClean="0"/>
              <a:t> act masc nom </a:t>
            </a:r>
            <a:r>
              <a:rPr lang="en-US" dirty="0" err="1" smtClean="0"/>
              <a:t>pl</a:t>
            </a:r>
            <a:r>
              <a:rPr lang="en-US" dirty="0" smtClean="0"/>
              <a:t> [</a:t>
            </a:r>
            <a:r>
              <a:rPr lang="en-US" i="1" dirty="0" smtClean="0"/>
              <a:t>seeing</a:t>
            </a:r>
            <a:r>
              <a:rPr lang="en-US" dirty="0" smtClean="0"/>
              <a:t>]</a:t>
            </a:r>
          </a:p>
          <a:p>
            <a:pPr lvl="1"/>
            <a:r>
              <a:rPr lang="en-US" dirty="0" smtClean="0"/>
              <a:t>As a verb of sensory perception, it requires </a:t>
            </a:r>
            <a:r>
              <a:rPr lang="en-US" dirty="0" smtClean="0">
                <a:solidFill>
                  <a:srgbClr val="FF0000"/>
                </a:solidFill>
              </a:rPr>
              <a:t>a participle = OBJ</a:t>
            </a:r>
          </a:p>
          <a:p>
            <a:r>
              <a:rPr lang="en-US" dirty="0" smtClean="0"/>
              <a:t>That participle here [</a:t>
            </a:r>
            <a:r>
              <a:rPr lang="el-GR" dirty="0" smtClean="0"/>
              <a:t>οὔσας</a:t>
            </a:r>
            <a:r>
              <a:rPr lang="en-US" dirty="0" smtClean="0"/>
              <a:t>, </a:t>
            </a:r>
            <a:r>
              <a:rPr lang="en-US" i="1" dirty="0" smtClean="0"/>
              <a:t>being</a:t>
            </a:r>
            <a:r>
              <a:rPr lang="en-US" dirty="0" smtClean="0"/>
              <a:t>] requires a SBJ and PNOMs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9389" y="1584681"/>
            <a:ext cx="4769224" cy="50403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22659" y="2608447"/>
            <a:ext cx="842684" cy="529390"/>
          </a:xfrm>
          <a:prstGeom prst="roundRect">
            <a:avLst/>
          </a:prstGeom>
          <a:solidFill>
            <a:srgbClr val="00FFFF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174187" y="2998440"/>
              <a:ext cx="1049760" cy="25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2187" y="2854440"/>
                <a:ext cx="1193760" cy="3132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ounded Rectangle 6"/>
          <p:cNvSpPr/>
          <p:nvPr/>
        </p:nvSpPr>
        <p:spPr>
          <a:xfrm>
            <a:off x="8722659" y="3171696"/>
            <a:ext cx="842684" cy="529390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4206182" y="5101389"/>
              <a:ext cx="1780920" cy="230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34182" y="4957389"/>
                <a:ext cx="1924920" cy="31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47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l-GR" sz="2800" dirty="0"/>
              <a:t>οἱ δὲ Πελοποννήσιοι </a:t>
            </a:r>
            <a:r>
              <a:rPr lang="el-GR" sz="2800" b="1" u="sng" dirty="0"/>
              <a:t>ἰδόντες</a:t>
            </a:r>
            <a:r>
              <a:rPr lang="el-GR" sz="2800" u="sng" dirty="0"/>
              <a:t> τὰς τῶν Ἀθηναίων τριήρεις </a:t>
            </a:r>
            <a:r>
              <a:rPr lang="el-GR" sz="2800" b="1" u="sng" dirty="0"/>
              <a:t>οὔσας</a:t>
            </a:r>
            <a:r>
              <a:rPr lang="el-GR" sz="2800" u="sng" dirty="0"/>
              <a:t> πλείους τε πολλῷ ἢ πρότερον καὶ πρὸς τῷ λιμένι</a:t>
            </a:r>
            <a:r>
              <a:rPr lang="el-GR" sz="2800" dirty="0"/>
              <a:t>, ἔφυγον εἰς τὴν γῆν. </a:t>
            </a:r>
            <a:r>
              <a:rPr lang="en-US" sz="2800" dirty="0"/>
              <a:t>[</a:t>
            </a:r>
            <a:r>
              <a:rPr lang="en-US" sz="2800" dirty="0" smtClean="0"/>
              <a:t>1.1.17]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024126" y="1819835"/>
            <a:ext cx="5573897" cy="4489525"/>
          </a:xfrm>
        </p:spPr>
        <p:txBody>
          <a:bodyPr>
            <a:normAutofit/>
          </a:bodyPr>
          <a:lstStyle/>
          <a:p>
            <a:r>
              <a:rPr lang="en-US" i="1" dirty="0" smtClean="0"/>
              <a:t>When they saw that the Athenian triremes were many more than [they had been] before and they were near the harbor, the Peloponnesians fled to land.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9389" y="1584681"/>
            <a:ext cx="4769224" cy="504034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22659" y="2608447"/>
            <a:ext cx="842684" cy="529390"/>
          </a:xfrm>
          <a:prstGeom prst="roundRect">
            <a:avLst/>
          </a:prstGeom>
          <a:solidFill>
            <a:srgbClr val="00FFFF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722659" y="3171696"/>
            <a:ext cx="842684" cy="529390"/>
          </a:xfrm>
          <a:prstGeom prst="round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/>
              <p14:cNvContentPartPr/>
              <p14:nvPr/>
            </p14:nvContentPartPr>
            <p14:xfrm>
              <a:off x="1164827" y="1996560"/>
              <a:ext cx="2666520" cy="1324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2827" y="1852560"/>
                <a:ext cx="281052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2358227" y="2464200"/>
              <a:ext cx="750960" cy="972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6227" y="2320200"/>
                <a:ext cx="894960" cy="29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043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l-GR" sz="2800" dirty="0"/>
              <a:t>ὁ δὲ Καλλικρατίδας </a:t>
            </a:r>
            <a:r>
              <a:rPr lang="el-GR" sz="2800" b="1" u="sng" dirty="0"/>
              <a:t>ἀκούων</a:t>
            </a:r>
            <a:r>
              <a:rPr lang="el-GR" sz="2800" u="sng" dirty="0"/>
              <a:t> τὴν βοήθειαν ἤδη ἐν Σάμῳ </a:t>
            </a:r>
            <a:r>
              <a:rPr lang="el-GR" sz="2800" b="1" u="sng" dirty="0"/>
              <a:t>οὖσαν</a:t>
            </a:r>
            <a:r>
              <a:rPr lang="el-GR" sz="2800" dirty="0"/>
              <a:t>, αὐτοῦ μὲν κατέλιπε πεντήκοντα ναῦς καὶ </a:t>
            </a:r>
            <a:r>
              <a:rPr lang="el-GR" sz="2800" b="1" u="sng" dirty="0"/>
              <a:t>ἄρχοντα</a:t>
            </a:r>
            <a:r>
              <a:rPr lang="el-GR" sz="2800" dirty="0"/>
              <a:t> </a:t>
            </a:r>
            <a:r>
              <a:rPr lang="el-GR" sz="2800" dirty="0" smtClean="0"/>
              <a:t>Ἐτεόνικον</a:t>
            </a:r>
            <a:r>
              <a:rPr lang="en-US" sz="2800" dirty="0" smtClean="0"/>
              <a:t>. [1.6.26]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024127" y="1819835"/>
            <a:ext cx="3816814" cy="4489525"/>
          </a:xfrm>
        </p:spPr>
        <p:txBody>
          <a:bodyPr/>
          <a:lstStyle/>
          <a:p>
            <a:r>
              <a:rPr lang="en-US" i="1" dirty="0"/>
              <a:t>And when he heard that help was already in Samos, </a:t>
            </a:r>
            <a:r>
              <a:rPr lang="en-US" i="1" dirty="0" err="1"/>
              <a:t>Kallikratides</a:t>
            </a:r>
            <a:r>
              <a:rPr lang="en-US" i="1" dirty="0"/>
              <a:t> left fifty ships and </a:t>
            </a:r>
            <a:r>
              <a:rPr lang="en-US" i="1" dirty="0" err="1"/>
              <a:t>Eteonikos</a:t>
            </a:r>
            <a:r>
              <a:rPr lang="en-US" i="1" dirty="0"/>
              <a:t> as the leader.</a:t>
            </a:r>
          </a:p>
          <a:p>
            <a:r>
              <a:rPr lang="en-US" dirty="0" smtClean="0"/>
              <a:t>Note: </a:t>
            </a:r>
            <a:r>
              <a:rPr lang="el-GR" dirty="0" smtClean="0"/>
              <a:t>ἄρχοντα</a:t>
            </a:r>
            <a:r>
              <a:rPr lang="en-US" dirty="0" smtClean="0"/>
              <a:t> could be participle or noun</a:t>
            </a:r>
            <a:br>
              <a:rPr lang="en-US" dirty="0" smtClean="0"/>
            </a:br>
            <a:endParaRPr lang="en-US" i="1" dirty="0" smtClean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74336" y="1819835"/>
            <a:ext cx="6079876" cy="39406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7213" y="2877953"/>
            <a:ext cx="769684" cy="1357163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944227" y="2059200"/>
              <a:ext cx="2503080" cy="114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2227" y="1915200"/>
                <a:ext cx="264708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1838387" y="2517480"/>
              <a:ext cx="452880" cy="144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66387" y="2373480"/>
                <a:ext cx="596880" cy="3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583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280366" cy="1620102"/>
          </a:xfrm>
        </p:spPr>
        <p:txBody>
          <a:bodyPr>
            <a:noAutofit/>
          </a:bodyPr>
          <a:lstStyle/>
          <a:p>
            <a:r>
              <a:rPr lang="el-GR" sz="3200" dirty="0"/>
              <a:t>αἱ δὲ τῶν Λακεδαιμονίων </a:t>
            </a:r>
            <a:r>
              <a:rPr lang="el-GR" sz="3200" u="sng" dirty="0"/>
              <a:t>ἀντιτεταγμέναι</a:t>
            </a:r>
            <a:r>
              <a:rPr lang="el-GR" sz="3200" dirty="0"/>
              <a:t> ἦσαν ἅπασαι ἐπὶ μιᾶς ὡς πρὸς διέκπλουν καὶ περίπλουν </a:t>
            </a:r>
            <a:r>
              <a:rPr lang="el-GR" sz="3200" u="sng" dirty="0"/>
              <a:t>παρεσκευασμέναι</a:t>
            </a:r>
            <a:r>
              <a:rPr lang="el-GR" sz="3200" dirty="0"/>
              <a:t> , διὰ τὸ βέλτιον πλεῖν .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05319"/>
            <a:ext cx="3646485" cy="4104042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The Lakedaimonian ships were all arrayed in one line as if they were preparing to break out and sail around them, because they were better sailors.</a:t>
            </a:r>
            <a:endParaRPr lang="en-US" dirty="0"/>
          </a:p>
          <a:p>
            <a:r>
              <a:rPr lang="el-GR" dirty="0" smtClean="0">
                <a:solidFill>
                  <a:srgbClr val="FF0000"/>
                </a:solidFill>
              </a:rPr>
              <a:t>ὡς</a:t>
            </a:r>
            <a:r>
              <a:rPr lang="en-US" dirty="0" smtClean="0"/>
              <a:t> [</a:t>
            </a:r>
            <a:r>
              <a:rPr lang="en-US" dirty="0" err="1" smtClean="0"/>
              <a:t>AuxZ</a:t>
            </a:r>
            <a:r>
              <a:rPr lang="en-US" dirty="0" smtClean="0"/>
              <a:t>] + </a:t>
            </a:r>
            <a:r>
              <a:rPr lang="en-US" dirty="0"/>
              <a:t>participle = </a:t>
            </a:r>
            <a:r>
              <a:rPr lang="en-US" i="1" dirty="0"/>
              <a:t>intending </a:t>
            </a:r>
            <a:r>
              <a:rPr lang="en-US" dirty="0" smtClean="0"/>
              <a:t>or </a:t>
            </a:r>
            <a:r>
              <a:rPr lang="en-US" i="1" dirty="0"/>
              <a:t>on the pretense </a:t>
            </a:r>
            <a:r>
              <a:rPr lang="en-US" i="1" dirty="0" smtClean="0"/>
              <a:t>that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4417" y="2205318"/>
            <a:ext cx="7024843" cy="38906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0518" y="3361764"/>
            <a:ext cx="1703293" cy="627530"/>
          </a:xfrm>
          <a:prstGeom prst="roundRect">
            <a:avLst/>
          </a:prstGeom>
          <a:solidFill>
            <a:srgbClr val="00FFFF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827080" y="3361764"/>
            <a:ext cx="1703293" cy="627530"/>
          </a:xfrm>
          <a:prstGeom prst="roundRect">
            <a:avLst/>
          </a:prstGeom>
          <a:solidFill>
            <a:srgbClr val="00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681882" y="3989294"/>
            <a:ext cx="618566" cy="62753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/>
              <p14:cNvContentPartPr/>
              <p14:nvPr/>
            </p14:nvContentPartPr>
            <p14:xfrm>
              <a:off x="1183907" y="2734200"/>
              <a:ext cx="616320" cy="226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1907" y="2590200"/>
                <a:ext cx="7603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2435267" y="2685600"/>
              <a:ext cx="991800" cy="500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63267" y="2541600"/>
                <a:ext cx="113580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/>
              <p14:cNvContentPartPr/>
              <p14:nvPr/>
            </p14:nvContentPartPr>
            <p14:xfrm>
              <a:off x="3089747" y="3089880"/>
              <a:ext cx="664560" cy="36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17747" y="2945880"/>
                <a:ext cx="80856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/>
              <p14:cNvContentPartPr/>
              <p14:nvPr/>
            </p14:nvContentPartPr>
            <p14:xfrm>
              <a:off x="1193627" y="3373920"/>
              <a:ext cx="1280520" cy="8532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21627" y="3229920"/>
                <a:ext cx="1424520" cy="37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743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7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7199</TotalTime>
  <Words>4191</Words>
  <Application>Microsoft Office PowerPoint</Application>
  <PresentationFormat>Widescreen</PresentationFormat>
  <Paragraphs>2727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Calibri</vt:lpstr>
      <vt:lpstr>Times New Roman</vt:lpstr>
      <vt:lpstr>Tw Cen MT</vt:lpstr>
      <vt:lpstr>Tw Cen MT Condensed</vt:lpstr>
      <vt:lpstr>Wingdings 3</vt:lpstr>
      <vt:lpstr>Integral</vt:lpstr>
      <vt:lpstr>Greek Participles </vt:lpstr>
      <vt:lpstr>Morphology of Greek Participles </vt:lpstr>
      <vt:lpstr>Participle = verbal adjective</vt:lpstr>
      <vt:lpstr>In English, usually translated –ing [pres] or –ed [past]</vt:lpstr>
      <vt:lpstr>Top 20 Participles in Hellenika 1-3 (by lemma)</vt:lpstr>
      <vt:lpstr>Only 12 lemmas occur more than 20x total</vt:lpstr>
      <vt:lpstr>The great majority are masculine</vt:lpstr>
      <vt:lpstr>Three are commonly feminine and/or neuter as well</vt:lpstr>
      <vt:lpstr>The great majority are Present or Aorist</vt:lpstr>
      <vt:lpstr>Some are mostly or exclusively Present</vt:lpstr>
      <vt:lpstr>Some are mostly or exclusively Aorist</vt:lpstr>
      <vt:lpstr>Most are active or deponent</vt:lpstr>
      <vt:lpstr>Common Participles in Xenophon’s Hellenika</vt:lpstr>
      <vt:lpstr>Present Active Participle</vt:lpstr>
      <vt:lpstr>Present, Future, and 2nd Aorist Active Participle</vt:lpstr>
      <vt:lpstr>Weak Aorist Active [θύω, θύσω, ἔθυσα, τέθυκα, τέθυμαι, ἐτύθην]</vt:lpstr>
      <vt:lpstr>Weak Aorist Active [θύω, θύσω, ἔθυσα, τέθυκα, τέθυμαι, ἐτύθην]</vt:lpstr>
      <vt:lpstr>Present Active Participle of -μι verbs</vt:lpstr>
      <vt:lpstr>Deponent, Middle, and M/P Participles </vt:lpstr>
      <vt:lpstr>Aorist Passive Participle</vt:lpstr>
      <vt:lpstr>Perfect Participles [rare]</vt:lpstr>
      <vt:lpstr>USES OF Greek Participles </vt:lpstr>
      <vt:lpstr>Greek Attributive/Substantive Participle</vt:lpstr>
      <vt:lpstr>οἱ δὲ μετʼ αὐτοῦ ὄντες ἔφυγον. [1.1.18]</vt:lpstr>
      <vt:lpstr>Φαρνάβαζος δὲ καὶ οἱ πρέσβεις τῆς Φρυγίας τὰ περὶ τὸ Βυζάντιον πεπραγμένα ἤκουσαν. [1.4.1]</vt:lpstr>
      <vt:lpstr>Greek Supplementary Participle</vt:lpstr>
      <vt:lpstr>Ἀλκιβιάδης δὲ τοῖς ὅρκοις οὐκ ἐτύγχανε παρών, ἀλλὰ περὶ Σηλυμβρίαν ἦν· [1.3.10]</vt:lpstr>
      <vt:lpstr>Greek Circumstantial Participle</vt:lpstr>
      <vt:lpstr>μετὰ δὲ ταῦτα οὐ πολλαῖς ἡμέραις ὕστερον ἦλθεν ἐξ Ἀθηνῶν Θυμοχάρης ἔχων ναῦς ὀλίγας· [1.1.1]</vt:lpstr>
      <vt:lpstr>καὶ εὐθὺς ἐναυμάχησαν αὖθις Λακεδαιμόνιοι καὶ Ἀθηναῖοι, ἐνίκησαν δὲ Λακεδαιμόνιοι ἡγουμένου Ἀγησανδρίδου. [1.1.1]</vt:lpstr>
      <vt:lpstr>μετʼ ὀλίγον δὲ τούτων Δωριεὺς ὁ Διαγόρου ἐκ Ῥόδου εἰς Ἑλλήσποντον εἰσέπλει ἀρχομένου χειμῶνος τέτταρσι καὶ δέκα ναυσὶν ἅμα ἡμέρᾳ. [1.1.2]  </vt:lpstr>
      <vt:lpstr>οἱ δὲ Πελοποννήσιοι ἰδόντες τὰς τῶν Ἀθηναίων τριήρεις οὔσας πλείους τε πολλῷ ἢ πρότερον καὶ πρὸς τῷ λιμένι, ἔφυγον εἰς τὴν γῆν. [1.1.17] </vt:lpstr>
      <vt:lpstr>οἱ δὲ Πελοποννήσιοι ἰδόντες τὰς τῶν Ἀθηναίων τριήρεις οὔσας πλείους τε πολλῷ ἢ πρότερον καὶ πρὸς τῷ λιμένι, ἔφυγον εἰς τὴν γῆν. [1.1.17] </vt:lpstr>
      <vt:lpstr>ὁ δὲ Καλλικρατίδας ἀκούων τὴν βοήθειαν ἤδη ἐν Σάμῳ οὖσαν, αὐτοῦ μὲν κατέλιπε πεντήκοντα ναῦς καὶ ἄρχοντα Ἐτεόνικον. [1.6.26]</vt:lpstr>
      <vt:lpstr>αἱ δὲ τῶν Λακεδαιμονίων ἀντιτεταγμέναι ἦσαν ἅπασαι ἐπὶ μιᾶς ὡς πρὸς διέκπλουν καὶ περίπλουν παρεσκευασμέναι , διὰ τὸ βέλτιον πλεῖν . </vt:lpstr>
      <vt:lpstr>PowerPoint Presentation</vt:lpstr>
    </vt:vector>
  </TitlesOfParts>
  <Company>University of Nebraska - Lincoln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 101</dc:title>
  <dc:creator>Vanessa Gorman</dc:creator>
  <cp:lastModifiedBy>Vanessa Gorman</cp:lastModifiedBy>
  <cp:revision>584</cp:revision>
  <dcterms:created xsi:type="dcterms:W3CDTF">2019-10-07T18:50:51Z</dcterms:created>
  <dcterms:modified xsi:type="dcterms:W3CDTF">2021-01-02T18:48:13Z</dcterms:modified>
</cp:coreProperties>
</file>